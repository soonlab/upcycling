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005840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035040"/>
            <a:ext cx="9509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Main Figure 1 — Phylogenomic tree + MICP-gene heat map (circular fan layout).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822960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200" b="0" i="1">
                <a:solidFill>
                  <a:srgbClr val="6B6B6B"/>
                </a:solidFill>
                <a:latin typeface="Arial"/>
              </a:rPr>
              <a:t>Circular fan-tree native reconstruction is complex; editable version uses a tabular tree representation. Original panel is retained as Figures_main/Figure_1.png with the GTDB-Tk bac120 tree + concentric MICP-gene rings.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035040"/>
            <a:ext cx="9509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Main Figure 2a — MICP module completeness by GTDB-Tk genus (score 0-8); MICP-complete lineages coloured.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4" name="Rectangle 3"/>
          <p:cNvSpPr/>
          <p:nvPr/>
        </p:nvSpPr>
        <p:spPr>
          <a:xfrm>
            <a:off x="1392173" y="1091901"/>
            <a:ext cx="393192" cy="0"/>
          </a:xfrm>
          <a:prstGeom prst="rect">
            <a:avLst/>
          </a:prstGeom>
          <a:solidFill>
            <a:srgbClr val="CBD5E0"/>
          </a:solidFill>
          <a:ln w="76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92173" y="1084916"/>
            <a:ext cx="393191" cy="1397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52193" y="1088726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52193" y="1088726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69649" y="106629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3608" y="106629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98963" y="106629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01128" y="106629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41640" y="106629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623390" y="106629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10757" y="106629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48205" y="160418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249" y="5468112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Acinetobacter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49" y="5669280"/>
            <a:ext cx="14630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6B6B6B"/>
                </a:solidFill>
                <a:latin typeface="Arial"/>
              </a:rPr>
              <a:t>n = 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5154" y="1091901"/>
            <a:ext cx="393192" cy="268941"/>
          </a:xfrm>
          <a:prstGeom prst="rect">
            <a:avLst/>
          </a:prstGeom>
          <a:solidFill>
            <a:srgbClr val="CBD5E0"/>
          </a:solidFill>
          <a:ln w="76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75154" y="1084916"/>
            <a:ext cx="393192" cy="1397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68575" y="1360842"/>
            <a:ext cx="6350" cy="26894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35174" y="1626608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35174" y="1088726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452153" y="106629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593751" y="106629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497359" y="106629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57071" y="106629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43054" y="160418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40230" y="5468112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Chryseobacterium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40230" y="5669280"/>
            <a:ext cx="14630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6B6B6B"/>
                </a:solidFill>
                <a:latin typeface="Arial"/>
              </a:rPr>
              <a:t>n = 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58134" y="1091901"/>
            <a:ext cx="393192" cy="0"/>
          </a:xfrm>
          <a:prstGeom prst="rect">
            <a:avLst/>
          </a:prstGeom>
          <a:solidFill>
            <a:srgbClr val="0072B2"/>
          </a:solidFill>
          <a:ln w="76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58134" y="1084916"/>
            <a:ext cx="393191" cy="1397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18154" y="1088726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18154" y="1088726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581360" y="1066297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613145" y="1066297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535162" y="1066297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532515" y="1066297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497730" y="106629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675635" y="214206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23210" y="5468112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Sphingobacterium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23210" y="5669280"/>
            <a:ext cx="14630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6B6B6B"/>
                </a:solidFill>
                <a:latin typeface="Arial"/>
              </a:rPr>
              <a:t>n = 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41114" y="1091901"/>
            <a:ext cx="393192" cy="537882"/>
          </a:xfrm>
          <a:prstGeom prst="rect">
            <a:avLst/>
          </a:prstGeom>
          <a:solidFill>
            <a:srgbClr val="D55E00"/>
          </a:solidFill>
          <a:ln w="76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41114" y="1084916"/>
            <a:ext cx="393191" cy="1397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34534" y="1629783"/>
            <a:ext cx="6350" cy="53788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01133" y="2164490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01133" y="1088726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631727" y="1066297"/>
            <a:ext cx="51206" cy="51206"/>
          </a:xfrm>
          <a:prstGeom prst="ellipse">
            <a:avLst/>
          </a:prstGeom>
          <a:solidFill>
            <a:srgbClr val="D55E00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567032" y="106629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590698" y="106629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631425" y="106629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441281" y="106629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552131" y="106629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631522" y="106629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621845" y="106629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533616" y="106629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414608" y="106629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486015" y="106629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657736" y="160418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395106" y="160418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458772" y="1066297"/>
            <a:ext cx="51206" cy="51206"/>
          </a:xfrm>
          <a:prstGeom prst="ellipse">
            <a:avLst/>
          </a:prstGeom>
          <a:solidFill>
            <a:srgbClr val="D55E00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644820" y="160418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497185" y="214206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426190" y="160418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458112" y="160418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632611" y="214206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806189" y="5468112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Pseudomonas_E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06189" y="5669280"/>
            <a:ext cx="14630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6B6B6B"/>
                </a:solidFill>
                <a:latin typeface="Arial"/>
              </a:rPr>
              <a:t>n = 19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324094" y="5394960"/>
            <a:ext cx="393192" cy="0"/>
          </a:xfrm>
          <a:prstGeom prst="rect">
            <a:avLst/>
          </a:prstGeom>
          <a:solidFill>
            <a:srgbClr val="CBD5E0"/>
          </a:solidFill>
          <a:ln w="76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324094" y="1622798"/>
            <a:ext cx="393191" cy="1397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517515" y="1629783"/>
            <a:ext cx="6350" cy="376517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484114" y="1626608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484114" y="5391785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396282" y="160418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789170" y="5468112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Cupriavidus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789170" y="5669280"/>
            <a:ext cx="14630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6B6B6B"/>
                </a:solidFill>
                <a:latin typeface="Arial"/>
              </a:rPr>
              <a:t>n = 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7074" y="5394960"/>
            <a:ext cx="393192" cy="0"/>
          </a:xfrm>
          <a:prstGeom prst="rect">
            <a:avLst/>
          </a:prstGeom>
          <a:solidFill>
            <a:srgbClr val="CBD5E0"/>
          </a:solidFill>
          <a:ln w="76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07074" y="1622798"/>
            <a:ext cx="393191" cy="1397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00495" y="1629783"/>
            <a:ext cx="6350" cy="376517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467094" y="1626608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467094" y="5391785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613189" y="160418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772150" y="5468112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Paraburkholderia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772150" y="5669280"/>
            <a:ext cx="14630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6B6B6B"/>
                </a:solidFill>
                <a:latin typeface="Arial"/>
              </a:rPr>
              <a:t>n = 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290054" y="5394960"/>
            <a:ext cx="393192" cy="0"/>
          </a:xfrm>
          <a:prstGeom prst="rect">
            <a:avLst/>
          </a:prstGeom>
          <a:solidFill>
            <a:srgbClr val="CBD5E0"/>
          </a:solidFill>
          <a:ln w="76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290054" y="1622798"/>
            <a:ext cx="393191" cy="1397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483475" y="1629783"/>
            <a:ext cx="6350" cy="376517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450074" y="1626608"/>
            <a:ext cx="73151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0074" y="5391785"/>
            <a:ext cx="73151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7586337" y="160418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755130" y="5468112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Agrobacterium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755130" y="5669280"/>
            <a:ext cx="14630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6B6B6B"/>
                </a:solidFill>
                <a:latin typeface="Arial"/>
              </a:rPr>
              <a:t>n = 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273033" y="5394960"/>
            <a:ext cx="393192" cy="0"/>
          </a:xfrm>
          <a:prstGeom prst="rect">
            <a:avLst/>
          </a:prstGeom>
          <a:solidFill>
            <a:srgbClr val="CBD5E0"/>
          </a:solidFill>
          <a:ln w="76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273033" y="2160680"/>
            <a:ext cx="393191" cy="1397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66455" y="2167665"/>
            <a:ext cx="6350" cy="322729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33054" y="2164490"/>
            <a:ext cx="73151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33054" y="5391785"/>
            <a:ext cx="73151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8506645" y="214206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738109" y="5468112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Burkholderia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738109" y="5669280"/>
            <a:ext cx="14630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6B6B6B"/>
                </a:solidFill>
                <a:latin typeface="Arial"/>
              </a:rPr>
              <a:t>n = 1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97280" y="5390197"/>
            <a:ext cx="786384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92517" y="822960"/>
            <a:ext cx="9525" cy="4572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42415" y="539115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30351" y="531266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42415" y="4315385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30351" y="4236899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42415" y="323962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30351" y="316113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42415" y="2163855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30351" y="2085369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42415" y="1088091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30351" y="1009605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112" name="TextBox 111"/>
          <p:cNvSpPr txBox="1"/>
          <p:nvPr/>
        </p:nvSpPr>
        <p:spPr>
          <a:xfrm rot="16200000">
            <a:off x="182879" y="2971800"/>
            <a:ext cx="7315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000000"/>
                </a:solidFill>
                <a:latin typeface="Arial"/>
              </a:rPr>
              <a:t>MICP module score (sum of ureA-G + cah)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035040"/>
            <a:ext cx="9509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Main Figure 2b — per-gene prevalence of the 8 MICP genes (%), MICP-complete (n=6) vs rest (n=105).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4" name="Rectangle 3"/>
          <p:cNvSpPr/>
          <p:nvPr/>
        </p:nvSpPr>
        <p:spPr>
          <a:xfrm>
            <a:off x="1244727" y="1238596"/>
            <a:ext cx="344043" cy="4156363"/>
          </a:xfrm>
          <a:prstGeom prst="rect">
            <a:avLst/>
          </a:prstGeom>
          <a:solidFill>
            <a:srgbClr val="CC79A7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3287" y="1037428"/>
            <a:ext cx="52692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6" name="Rectangle 5"/>
          <p:cNvSpPr/>
          <p:nvPr/>
        </p:nvSpPr>
        <p:spPr>
          <a:xfrm>
            <a:off x="1588769" y="1238596"/>
            <a:ext cx="344043" cy="4156363"/>
          </a:xfrm>
          <a:prstGeom prst="rect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97329" y="1037428"/>
            <a:ext cx="52692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8" name="Rectangle 7"/>
          <p:cNvSpPr/>
          <p:nvPr/>
        </p:nvSpPr>
        <p:spPr>
          <a:xfrm>
            <a:off x="2227707" y="1238596"/>
            <a:ext cx="344043" cy="4156363"/>
          </a:xfrm>
          <a:prstGeom prst="rect">
            <a:avLst/>
          </a:prstGeom>
          <a:solidFill>
            <a:srgbClr val="CC79A7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6267" y="1037428"/>
            <a:ext cx="52692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1238596"/>
            <a:ext cx="344043" cy="4156363"/>
          </a:xfrm>
          <a:prstGeom prst="rect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0310" y="1037428"/>
            <a:ext cx="52692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0687" y="1238596"/>
            <a:ext cx="344043" cy="4156363"/>
          </a:xfrm>
          <a:prstGeom prst="rect">
            <a:avLst/>
          </a:prstGeom>
          <a:solidFill>
            <a:srgbClr val="CC79A7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19247" y="1037428"/>
            <a:ext cx="52692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54730" y="1238596"/>
            <a:ext cx="344043" cy="4156363"/>
          </a:xfrm>
          <a:prstGeom prst="rect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63290" y="1037428"/>
            <a:ext cx="52692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93666" y="1238596"/>
            <a:ext cx="344043" cy="4156363"/>
          </a:xfrm>
          <a:prstGeom prst="rect">
            <a:avLst/>
          </a:prstGeom>
          <a:solidFill>
            <a:srgbClr val="CC79A7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02227" y="1037428"/>
            <a:ext cx="52692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37709" y="1451743"/>
            <a:ext cx="344043" cy="3943216"/>
          </a:xfrm>
          <a:prstGeom prst="rect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46270" y="1250575"/>
            <a:ext cx="52692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95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76647" y="1238596"/>
            <a:ext cx="344043" cy="4156363"/>
          </a:xfrm>
          <a:prstGeom prst="rect">
            <a:avLst/>
          </a:prstGeom>
          <a:solidFill>
            <a:srgbClr val="CC79A7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85207" y="1037428"/>
            <a:ext cx="52692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20690" y="2304330"/>
            <a:ext cx="344043" cy="3090629"/>
          </a:xfrm>
          <a:prstGeom prst="rect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29250" y="2103162"/>
            <a:ext cx="52692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74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59627" y="1238596"/>
            <a:ext cx="344043" cy="4156363"/>
          </a:xfrm>
          <a:prstGeom prst="rect">
            <a:avLst/>
          </a:prstGeom>
          <a:solidFill>
            <a:srgbClr val="CC79A7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68187" y="1037428"/>
            <a:ext cx="52692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03670" y="1451743"/>
            <a:ext cx="344043" cy="3943216"/>
          </a:xfrm>
          <a:prstGeom prst="rect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2230" y="1250575"/>
            <a:ext cx="52692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95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42607" y="1238596"/>
            <a:ext cx="344043" cy="4156363"/>
          </a:xfrm>
          <a:prstGeom prst="rect">
            <a:avLst/>
          </a:prstGeom>
          <a:solidFill>
            <a:srgbClr val="CC79A7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51167" y="1037428"/>
            <a:ext cx="52692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86650" y="1984610"/>
            <a:ext cx="344043" cy="3410349"/>
          </a:xfrm>
          <a:prstGeom prst="rect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95210" y="1783442"/>
            <a:ext cx="52692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82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25586" y="1238596"/>
            <a:ext cx="344043" cy="4156363"/>
          </a:xfrm>
          <a:prstGeom prst="rect">
            <a:avLst/>
          </a:prstGeom>
          <a:solidFill>
            <a:srgbClr val="CC79A7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34146" y="1037428"/>
            <a:ext cx="52692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69630" y="1238596"/>
            <a:ext cx="344043" cy="4156363"/>
          </a:xfrm>
          <a:prstGeom prst="rect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78190" y="1037428"/>
            <a:ext cx="52692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97280" y="5390197"/>
            <a:ext cx="786384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92517" y="822960"/>
            <a:ext cx="9525" cy="4572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584959" y="539496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0129" y="5468112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ureA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67940" y="539496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23110" y="5468112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ureB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50920" y="539496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06090" y="5468112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ureC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33900" y="539496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89070" y="5468112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ureD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16880" y="539496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72050" y="5468112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ureE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99860" y="539496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55030" y="5468112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ureF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82840" y="539496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38010" y="5468112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ureG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65820" y="539496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20990" y="5468112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cah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42415" y="539115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0351" y="531266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42415" y="4559877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0351" y="4481391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42415" y="3728604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0351" y="3650118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42415" y="2897331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0351" y="2818845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60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42415" y="2066059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0351" y="1987573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42415" y="1234786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0351" y="1156300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66" name="TextBox 65"/>
          <p:cNvSpPr txBox="1"/>
          <p:nvPr/>
        </p:nvSpPr>
        <p:spPr>
          <a:xfrm rot="16200000">
            <a:off x="182879" y="2971800"/>
            <a:ext cx="7315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000000"/>
                </a:solidFill>
                <a:latin typeface="Arial"/>
              </a:rPr>
              <a:t>Gene prevalence (%)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132319" y="868680"/>
            <a:ext cx="164592" cy="128016"/>
          </a:xfrm>
          <a:prstGeom prst="rect">
            <a:avLst/>
          </a:prstGeom>
          <a:solidFill>
            <a:srgbClr val="CC79A7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33488" y="832104"/>
            <a:ext cx="160020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MICP-complete (n=6)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132319" y="1179576"/>
            <a:ext cx="164592" cy="128016"/>
          </a:xfrm>
          <a:prstGeom prst="rect">
            <a:avLst/>
          </a:prstGeom>
          <a:solidFill>
            <a:srgbClr val="6B6B6B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33488" y="1143000"/>
            <a:ext cx="160020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Rest (n=105)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035040"/>
            <a:ext cx="9509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Main Figure 3 — ureABCDEFG operon synteny across the 6 MICP-complete MAGs.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1139825"/>
            <a:ext cx="6400799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10515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0072B2"/>
                </a:solidFill>
                <a:latin typeface="Arial"/>
              </a:rPr>
              <a:t>S13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011680" y="914400"/>
            <a:ext cx="581890" cy="457200"/>
          </a:xfrm>
          <a:prstGeom prst="rightArrow">
            <a:avLst/>
          </a:prstGeom>
          <a:solidFill>
            <a:srgbClr val="0072B2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1051560"/>
            <a:ext cx="58189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ureA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51760" y="914400"/>
            <a:ext cx="1163781" cy="457200"/>
          </a:xfrm>
          <a:prstGeom prst="rightArrow">
            <a:avLst/>
          </a:prstGeom>
          <a:solidFill>
            <a:srgbClr val="009E73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1051560"/>
            <a:ext cx="1163781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ureB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051560"/>
            <a:ext cx="11887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5.9 kb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1825625"/>
            <a:ext cx="6400799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737360"/>
            <a:ext cx="10515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0072B2"/>
                </a:solidFill>
                <a:latin typeface="Arial"/>
              </a:rPr>
              <a:t>S16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011680" y="1600200"/>
            <a:ext cx="581890" cy="457200"/>
          </a:xfrm>
          <a:prstGeom prst="rightArrow">
            <a:avLst/>
          </a:prstGeom>
          <a:solidFill>
            <a:srgbClr val="0072B2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1737360"/>
            <a:ext cx="58189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ureA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651760" y="1600200"/>
            <a:ext cx="1163781" cy="457200"/>
          </a:xfrm>
          <a:prstGeom prst="rightArrow">
            <a:avLst/>
          </a:prstGeom>
          <a:solidFill>
            <a:srgbClr val="009E73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1737360"/>
            <a:ext cx="1163781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ureB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1737360"/>
            <a:ext cx="11887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5.9 kb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2511425"/>
            <a:ext cx="6400799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423160"/>
            <a:ext cx="10515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0072B2"/>
                </a:solidFill>
                <a:latin typeface="Arial"/>
              </a:rPr>
              <a:t>S23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011680" y="2286000"/>
            <a:ext cx="581890" cy="457200"/>
          </a:xfrm>
          <a:prstGeom prst="rightArrow">
            <a:avLst/>
          </a:prstGeom>
          <a:solidFill>
            <a:srgbClr val="0072B2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2423160"/>
            <a:ext cx="58189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ureA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651760" y="2286000"/>
            <a:ext cx="1163781" cy="457200"/>
          </a:xfrm>
          <a:prstGeom prst="rightArrow">
            <a:avLst/>
          </a:prstGeom>
          <a:solidFill>
            <a:srgbClr val="009E73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51760" y="2423160"/>
            <a:ext cx="1163781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ureB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2423160"/>
            <a:ext cx="11887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3.3 kb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0" y="3197225"/>
            <a:ext cx="6400799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108960"/>
            <a:ext cx="10515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0072B2"/>
                </a:solidFill>
                <a:latin typeface="Arial"/>
              </a:rPr>
              <a:t>C22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011680" y="2971800"/>
            <a:ext cx="581890" cy="457200"/>
          </a:xfrm>
          <a:prstGeom prst="rightArrow">
            <a:avLst/>
          </a:prstGeom>
          <a:solidFill>
            <a:srgbClr val="0072B2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11680" y="3108960"/>
            <a:ext cx="58189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ureA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651760" y="2971800"/>
            <a:ext cx="1163781" cy="457200"/>
          </a:xfrm>
          <a:prstGeom prst="rightArrow">
            <a:avLst/>
          </a:prstGeom>
          <a:solidFill>
            <a:srgbClr val="009E73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51760" y="3108960"/>
            <a:ext cx="1163781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ureB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3108960"/>
            <a:ext cx="11887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5.3 kb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11680" y="3883025"/>
            <a:ext cx="6400799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3794760"/>
            <a:ext cx="10515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D55E00"/>
                </a:solidFill>
                <a:latin typeface="Arial"/>
              </a:rPr>
              <a:t>M1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2011680" y="3657600"/>
            <a:ext cx="223804" cy="457200"/>
          </a:xfrm>
          <a:prstGeom prst="rightArrow">
            <a:avLst/>
          </a:prstGeom>
          <a:solidFill>
            <a:srgbClr val="0072B2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2257864" y="3657600"/>
            <a:ext cx="447608" cy="457200"/>
          </a:xfrm>
          <a:prstGeom prst="rightArrow">
            <a:avLst/>
          </a:prstGeom>
          <a:solidFill>
            <a:srgbClr val="009E73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57864" y="3794760"/>
            <a:ext cx="447608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ureB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2727853" y="3657600"/>
            <a:ext cx="626651" cy="457200"/>
          </a:xfrm>
          <a:prstGeom prst="rightArrow">
            <a:avLst/>
          </a:prstGeom>
          <a:solidFill>
            <a:srgbClr val="D55E00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27853" y="3794760"/>
            <a:ext cx="626651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ureC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3376885" y="3657600"/>
            <a:ext cx="268565" cy="457200"/>
          </a:xfrm>
          <a:prstGeom prst="rightArrow">
            <a:avLst/>
          </a:prstGeom>
          <a:solidFill>
            <a:srgbClr val="CC79A7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ight Arrow 39"/>
          <p:cNvSpPr/>
          <p:nvPr/>
        </p:nvSpPr>
        <p:spPr>
          <a:xfrm>
            <a:off x="3667831" y="3657600"/>
            <a:ext cx="179043" cy="457200"/>
          </a:xfrm>
          <a:prstGeom prst="rightArrow">
            <a:avLst/>
          </a:prstGeom>
          <a:solidFill>
            <a:srgbClr val="E69F00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ight Arrow 40"/>
          <p:cNvSpPr/>
          <p:nvPr/>
        </p:nvSpPr>
        <p:spPr>
          <a:xfrm>
            <a:off x="3869254" y="3657600"/>
            <a:ext cx="201423" cy="457200"/>
          </a:xfrm>
          <a:prstGeom prst="rightArrow">
            <a:avLst/>
          </a:prstGeom>
          <a:solidFill>
            <a:srgbClr val="F0E442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ight Arrow 41"/>
          <p:cNvSpPr/>
          <p:nvPr/>
        </p:nvSpPr>
        <p:spPr>
          <a:xfrm>
            <a:off x="4093059" y="3657600"/>
            <a:ext cx="358086" cy="457200"/>
          </a:xfrm>
          <a:prstGeom prst="rightArrow">
            <a:avLst/>
          </a:prstGeom>
          <a:solidFill>
            <a:srgbClr val="56B4E9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93059" y="3794760"/>
            <a:ext cx="35808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ureG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3794760"/>
            <a:ext cx="11887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28.6 kb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11680" y="4568825"/>
            <a:ext cx="6400799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4480560"/>
            <a:ext cx="10515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D55E00"/>
                </a:solidFill>
                <a:latin typeface="Arial"/>
              </a:rPr>
              <a:t>S26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2011680" y="4343400"/>
            <a:ext cx="581890" cy="457200"/>
          </a:xfrm>
          <a:prstGeom prst="rightArrow">
            <a:avLst/>
          </a:prstGeom>
          <a:solidFill>
            <a:srgbClr val="0072B2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11680" y="4480560"/>
            <a:ext cx="58189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ureA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4480560"/>
            <a:ext cx="11887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3.0 kb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0" y="5486400"/>
            <a:ext cx="228600" cy="182880"/>
          </a:xfrm>
          <a:prstGeom prst="rect">
            <a:avLst/>
          </a:prstGeom>
          <a:solidFill>
            <a:srgbClr val="0072B2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0" y="5468112"/>
            <a:ext cx="5486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000000"/>
                </a:solidFill>
                <a:latin typeface="Arial"/>
              </a:rPr>
              <a:t>ureA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06040" y="5486400"/>
            <a:ext cx="228600" cy="182880"/>
          </a:xfrm>
          <a:prstGeom prst="rect">
            <a:avLst/>
          </a:prstGeom>
          <a:solidFill>
            <a:srgbClr val="009E73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80360" y="5468112"/>
            <a:ext cx="5486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000000"/>
                </a:solidFill>
                <a:latin typeface="Arial"/>
              </a:rPr>
              <a:t>ureB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83280" y="5486400"/>
            <a:ext cx="228600" cy="182880"/>
          </a:xfrm>
          <a:prstGeom prst="rect">
            <a:avLst/>
          </a:prstGeom>
          <a:solidFill>
            <a:srgbClr val="D55E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0" y="5468112"/>
            <a:ext cx="5486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000000"/>
                </a:solidFill>
                <a:latin typeface="Arial"/>
              </a:rPr>
              <a:t>ureC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60520" y="5486400"/>
            <a:ext cx="228600" cy="182880"/>
          </a:xfrm>
          <a:prstGeom prst="rect">
            <a:avLst/>
          </a:prstGeom>
          <a:solidFill>
            <a:srgbClr val="CC79A7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34840" y="5468112"/>
            <a:ext cx="5486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000000"/>
                </a:solidFill>
                <a:latin typeface="Arial"/>
              </a:rPr>
              <a:t>ureD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37760" y="5486400"/>
            <a:ext cx="228600" cy="182880"/>
          </a:xfrm>
          <a:prstGeom prst="rect">
            <a:avLst/>
          </a:prstGeom>
          <a:solidFill>
            <a:srgbClr val="E69F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212080" y="5468112"/>
            <a:ext cx="5486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000000"/>
                </a:solidFill>
                <a:latin typeface="Arial"/>
              </a:rPr>
              <a:t>ureE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715000" y="5486400"/>
            <a:ext cx="228600" cy="182880"/>
          </a:xfrm>
          <a:prstGeom prst="rect">
            <a:avLst/>
          </a:prstGeom>
          <a:solidFill>
            <a:srgbClr val="F0E442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89320" y="5468112"/>
            <a:ext cx="5486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000000"/>
                </a:solidFill>
                <a:latin typeface="Arial"/>
              </a:rPr>
              <a:t>ureF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92240" y="5486400"/>
            <a:ext cx="228600" cy="182880"/>
          </a:xfrm>
          <a:prstGeom prst="rect">
            <a:avLst/>
          </a:prstGeom>
          <a:solidFill>
            <a:srgbClr val="56B4E9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66559" y="5468112"/>
            <a:ext cx="5486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000000"/>
                </a:solidFill>
                <a:latin typeface="Arial"/>
              </a:rPr>
              <a:t>ureG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4400" y="640080"/>
            <a:ext cx="82296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900" b="0" i="1">
                <a:solidFill>
                  <a:srgbClr val="6B6B6B"/>
                </a:solidFill>
                <a:latin typeface="Arial"/>
              </a:rPr>
              <a:t>Widths approximate. No transposase/integrase/relaxase/prophage detected in ±15 kb flanking any MICP-complete MAG.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035040"/>
            <a:ext cx="9509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Main Figure 4a — DRAM module-completeness heatmap (genus-aggregated).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4a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822960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200" b="0" i="1">
                <a:solidFill>
                  <a:srgbClr val="6B6B6B"/>
                </a:solidFill>
                <a:latin typeface="Arial"/>
              </a:rPr>
              <a:t>DRAM 98-module × 111-MAG heat map — editable template provided; cells will be populated from Supplementary Table S5a (DRAM product.tsv). Original heat map retained as Figures_main/Figure_4.png for visual continuity.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035040"/>
            <a:ext cx="9509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Main Figure 4b — MICP-critical modules: MICP-complete vs rest mean completeness.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4" name="Rectangle 3"/>
          <p:cNvSpPr/>
          <p:nvPr/>
        </p:nvSpPr>
        <p:spPr>
          <a:xfrm>
            <a:off x="1632204" y="1246909"/>
            <a:ext cx="394716" cy="4239490"/>
          </a:xfrm>
          <a:prstGeom prst="rect">
            <a:avLst/>
          </a:prstGeom>
          <a:solidFill>
            <a:srgbClr val="CC79A7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40764" y="1045741"/>
            <a:ext cx="577595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1.00</a:t>
            </a:r>
          </a:p>
        </p:txBody>
      </p:sp>
      <p:sp>
        <p:nvSpPr>
          <p:cNvPr id="6" name="Rectangle 5"/>
          <p:cNvSpPr/>
          <p:nvPr/>
        </p:nvSpPr>
        <p:spPr>
          <a:xfrm>
            <a:off x="2026920" y="3451444"/>
            <a:ext cx="394716" cy="2034955"/>
          </a:xfrm>
          <a:prstGeom prst="rect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35480" y="3250276"/>
            <a:ext cx="577595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0.48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59964" y="1246909"/>
            <a:ext cx="394716" cy="4239490"/>
          </a:xfrm>
          <a:prstGeom prst="rect">
            <a:avLst/>
          </a:prstGeom>
          <a:solidFill>
            <a:srgbClr val="CC79A7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68524" y="1045741"/>
            <a:ext cx="577595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1.00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80" y="2942705"/>
            <a:ext cx="394716" cy="2543694"/>
          </a:xfrm>
          <a:prstGeom prst="rect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741537"/>
            <a:ext cx="577595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0.60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87724" y="1458883"/>
            <a:ext cx="394716" cy="4027516"/>
          </a:xfrm>
          <a:prstGeom prst="rect">
            <a:avLst/>
          </a:prstGeom>
          <a:solidFill>
            <a:srgbClr val="CC79A7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6284" y="1257715"/>
            <a:ext cx="577595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0.95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82440" y="3281864"/>
            <a:ext cx="394716" cy="2204535"/>
          </a:xfrm>
          <a:prstGeom prst="rect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91000" y="3080696"/>
            <a:ext cx="577595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0.52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15483" y="1882832"/>
            <a:ext cx="394716" cy="3603567"/>
          </a:xfrm>
          <a:prstGeom prst="rect">
            <a:avLst/>
          </a:prstGeom>
          <a:solidFill>
            <a:srgbClr val="CC79A7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24044" y="1681664"/>
            <a:ext cx="577595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0.85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10199" y="3154680"/>
            <a:ext cx="394716" cy="2331720"/>
          </a:xfrm>
          <a:prstGeom prst="rect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18760" y="2953512"/>
            <a:ext cx="577595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0.55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3244" y="2942705"/>
            <a:ext cx="394716" cy="2543694"/>
          </a:xfrm>
          <a:prstGeom prst="rect">
            <a:avLst/>
          </a:prstGeom>
          <a:solidFill>
            <a:srgbClr val="CC79A7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51804" y="2741537"/>
            <a:ext cx="577595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0.60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3790603"/>
            <a:ext cx="394716" cy="1695796"/>
          </a:xfrm>
          <a:prstGeom prst="rect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589435"/>
            <a:ext cx="577595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0.40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71004" y="2179597"/>
            <a:ext cx="394716" cy="3306802"/>
          </a:xfrm>
          <a:prstGeom prst="rect">
            <a:avLst/>
          </a:prstGeom>
          <a:solidFill>
            <a:srgbClr val="CC79A7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79564" y="1978429"/>
            <a:ext cx="577595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0.78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65720" y="4002578"/>
            <a:ext cx="394716" cy="1483821"/>
          </a:xfrm>
          <a:prstGeom prst="rect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74280" y="3801410"/>
            <a:ext cx="577595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0.35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63040" y="5481637"/>
            <a:ext cx="676656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58277" y="822960"/>
            <a:ext cx="9525" cy="46634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23110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78280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Urease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50870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06040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Carbonic anhydrase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78630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33800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Nitrogen metabolism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06390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61560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Na+/H+ antiport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34150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89320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Cobalamin biosynthesis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61910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17080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CAZymes (GH+CBM)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408176" y="548259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112" y="540410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408176" y="4634691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4556205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408176" y="3786793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6112" y="3708307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408176" y="2938895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6112" y="2860409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408176" y="2090997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6112" y="2012511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408176" y="1243099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6112" y="1164613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 rot="16200000">
            <a:off x="548640" y="3017520"/>
            <a:ext cx="7315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000000"/>
                </a:solidFill>
                <a:latin typeface="Arial"/>
              </a:rPr>
              <a:t>Module completeness (DRAM)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0" y="868680"/>
            <a:ext cx="164592" cy="128016"/>
          </a:xfrm>
          <a:prstGeom prst="rect">
            <a:avLst/>
          </a:prstGeom>
          <a:solidFill>
            <a:srgbClr val="CC79A7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01968" y="832104"/>
            <a:ext cx="160020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MICP-complete (n=6)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0" y="1179576"/>
            <a:ext cx="164592" cy="128016"/>
          </a:xfrm>
          <a:prstGeom prst="rect">
            <a:avLst/>
          </a:prstGeom>
          <a:solidFill>
            <a:srgbClr val="6B6B6B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01968" y="1143000"/>
            <a:ext cx="160020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Rest (n=105)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035040"/>
            <a:ext cx="9509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Main Figure 5a — Novelty screen: GTDB-Tk closest-reference ANI per MAG (95% species threshold dashed).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4" name="Oval 3"/>
          <p:cNvSpPr/>
          <p:nvPr/>
        </p:nvSpPr>
        <p:spPr>
          <a:xfrm>
            <a:off x="1065276" y="1076161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2652" y="1082693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17167" y="1070718"/>
            <a:ext cx="109728" cy="109728"/>
          </a:xfrm>
          <a:prstGeom prst="ellipse">
            <a:avLst/>
          </a:prstGeom>
          <a:solidFill>
            <a:srgbClr val="0072B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27404" y="1097933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14780" y="1097933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02156" y="1145830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89532" y="1163247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76908" y="1169778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64284" y="1169778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51660" y="1171956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939035" y="1187195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026412" y="1208967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13788" y="1237270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201163" y="1241624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288539" y="1241624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375915" y="1245978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463292" y="1248155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50668" y="1259041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638044" y="1261218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25419" y="1263396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812795" y="1263396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00172" y="1263396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87548" y="1265573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074924" y="1272104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162299" y="1287344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249675" y="1296053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337051" y="1315647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24427" y="1320001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511804" y="1346127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99180" y="1350481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686555" y="1374430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773931" y="1376607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861308" y="1387493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948683" y="1389670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036060" y="1398378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123435" y="1400555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210812" y="1407087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298187" y="1409264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385563" y="1426681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472940" y="1426681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560316" y="1426681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647692" y="1437567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735068" y="1444098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822444" y="1446276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886960" y="1432124"/>
            <a:ext cx="109728" cy="109728"/>
          </a:xfrm>
          <a:prstGeom prst="ellipse">
            <a:avLst/>
          </a:prstGeom>
          <a:solidFill>
            <a:srgbClr val="D55E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997196" y="1457161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084572" y="1459338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171948" y="1470224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259323" y="1476756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346699" y="1496350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434076" y="1498527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521452" y="1502881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608828" y="1507236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696204" y="1507236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83579" y="1513767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70956" y="1515944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958332" y="1552956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022848" y="1534450"/>
            <a:ext cx="109728" cy="109728"/>
          </a:xfrm>
          <a:prstGeom prst="ellipse">
            <a:avLst/>
          </a:prstGeom>
          <a:solidFill>
            <a:srgbClr val="D55E00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133084" y="1559487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197600" y="1538804"/>
            <a:ext cx="109728" cy="109728"/>
          </a:xfrm>
          <a:prstGeom prst="ellipse">
            <a:avLst/>
          </a:prstGeom>
          <a:solidFill>
            <a:srgbClr val="0072B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07835" y="1579081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395212" y="1579081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482588" y="1585613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569964" y="1598675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657340" y="1605207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744715" y="1609561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832091" y="1616093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919468" y="1629155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006844" y="1635687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094220" y="1650927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181596" y="1666167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268971" y="1687938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356348" y="1692293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443723" y="1694470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531100" y="1698824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7618476" y="1766316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7705851" y="1772847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7793227" y="1777201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7880603" y="1798973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7967980" y="1809858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055355" y="1822921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142731" y="1875173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230107" y="1927424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317483" y="1931778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8404860" y="1962258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8492235" y="2025396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579612" y="2044990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8666987" y="2055876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8754364" y="2077647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8841740" y="2079824"/>
            <a:ext cx="64008" cy="64008"/>
          </a:xfrm>
          <a:prstGeom prst="ellipse">
            <a:avLst/>
          </a:prstGeom>
          <a:solidFill>
            <a:srgbClr val="6B6B6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97280" y="5390197"/>
            <a:ext cx="786384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92517" y="822960"/>
            <a:ext cx="9525" cy="4572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93470" y="539496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48640" y="5468112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025390" y="539496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480560" y="5468112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45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869934" y="539496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325104" y="5468112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90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42415" y="539115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30351" y="531266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42415" y="4302578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30351" y="4224092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85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42415" y="3214007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30351" y="3135521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90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42415" y="2125435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30351" y="2046949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95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42415" y="1036864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30351" y="958378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14400" y="5806440"/>
            <a:ext cx="82296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MAG rank (n = 90)</a:t>
            </a:r>
          </a:p>
        </p:txBody>
      </p:sp>
      <p:sp>
        <p:nvSpPr>
          <p:cNvPr id="113" name="TextBox 112"/>
          <p:cNvSpPr txBox="1"/>
          <p:nvPr/>
        </p:nvSpPr>
        <p:spPr>
          <a:xfrm rot="16200000">
            <a:off x="182879" y="2971800"/>
            <a:ext cx="7315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000000"/>
                </a:solidFill>
                <a:latin typeface="Arial"/>
              </a:rPr>
              <a:t>Closest-reference ANI (%)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97280" y="2124165"/>
            <a:ext cx="7863840" cy="10160"/>
          </a:xfrm>
          <a:prstGeom prst="rect">
            <a:avLst/>
          </a:prstGeom>
          <a:noFill/>
          <a:ln w="10160">
            <a:solidFill>
              <a:srgbClr val="D55E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143000" y="1928077"/>
            <a:ext cx="2743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1" i="0">
                <a:solidFill>
                  <a:srgbClr val="D55E00"/>
                </a:solidFill>
                <a:latin typeface="Arial"/>
              </a:rPr>
              <a:t>Species threshold (95% ANI)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326896" y="988422"/>
            <a:ext cx="10972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1" i="0">
                <a:solidFill>
                  <a:srgbClr val="0072B2"/>
                </a:solidFill>
                <a:latin typeface="Arial"/>
              </a:rPr>
              <a:t>S23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996688" y="1349828"/>
            <a:ext cx="10972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1" i="0">
                <a:solidFill>
                  <a:srgbClr val="D55E00"/>
                </a:solidFill>
                <a:latin typeface="Arial"/>
              </a:rPr>
              <a:t>M1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132575" y="1452154"/>
            <a:ext cx="10972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1" i="0">
                <a:solidFill>
                  <a:srgbClr val="D55E00"/>
                </a:solidFill>
                <a:latin typeface="Arial"/>
              </a:rPr>
              <a:t>S26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307328" y="1456508"/>
            <a:ext cx="10972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1" i="0">
                <a:solidFill>
                  <a:srgbClr val="0072B2"/>
                </a:solidFill>
                <a:latin typeface="Arial"/>
              </a:rPr>
              <a:t>C22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035040"/>
            <a:ext cx="9509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Main Figure 5b — AAI of S13 / S16 vs other Sphingobacterium MAGs in panel (95% species cutoff dashed).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6268" y="1833067"/>
            <a:ext cx="416966" cy="3104692"/>
          </a:xfrm>
          <a:prstGeom prst="rect">
            <a:avLst/>
          </a:prstGeom>
          <a:solidFill>
            <a:srgbClr val="0072B2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3388" y="1604467"/>
            <a:ext cx="78272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93.2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1212" y="2185781"/>
            <a:ext cx="416966" cy="2751978"/>
          </a:xfrm>
          <a:prstGeom prst="rect">
            <a:avLst/>
          </a:prstGeom>
          <a:solidFill>
            <a:srgbClr val="0072B2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48332" y="1957181"/>
            <a:ext cx="78272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90.5</a:t>
            </a:r>
          </a:p>
        </p:txBody>
      </p:sp>
      <p:sp>
        <p:nvSpPr>
          <p:cNvPr id="8" name="Rectangle 7"/>
          <p:cNvSpPr/>
          <p:nvPr/>
        </p:nvSpPr>
        <p:spPr>
          <a:xfrm>
            <a:off x="2626156" y="3265383"/>
            <a:ext cx="416966" cy="1672376"/>
          </a:xfrm>
          <a:prstGeom prst="rect">
            <a:avLst/>
          </a:prstGeom>
          <a:solidFill>
            <a:srgbClr val="0072B2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43276" y="3036783"/>
            <a:ext cx="78272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82.5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21100" y="3365967"/>
            <a:ext cx="416966" cy="1571792"/>
          </a:xfrm>
          <a:prstGeom prst="rect">
            <a:avLst/>
          </a:prstGeom>
          <a:solidFill>
            <a:srgbClr val="0072B2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38220" y="3137367"/>
            <a:ext cx="78272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81.7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16044" y="3746845"/>
            <a:ext cx="416966" cy="1190914"/>
          </a:xfrm>
          <a:prstGeom prst="rect">
            <a:avLst/>
          </a:prstGeom>
          <a:solidFill>
            <a:srgbClr val="0072B2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33164" y="3518245"/>
            <a:ext cx="78272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78.9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4932997"/>
            <a:ext cx="347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2517" y="914400"/>
            <a:ext cx="9525" cy="402336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40942" y="493776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010912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V3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35885" y="493776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91055" y="5010912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C13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0829" y="493776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5999" y="5010912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25773" y="493776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80943" y="5010912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S23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20718" y="493776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75888" y="5010912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C22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42415" y="493395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1" y="485546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70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42415" y="359283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1" y="351434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42415" y="225171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1" y="217322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90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2415" y="158115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1" y="150266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95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42415" y="91059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1" y="83210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349240"/>
            <a:ext cx="38404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S13 vs</a:t>
            </a:r>
          </a:p>
        </p:txBody>
      </p:sp>
      <p:sp>
        <p:nvSpPr>
          <p:cNvPr id="37" name="TextBox 36"/>
          <p:cNvSpPr txBox="1"/>
          <p:nvPr/>
        </p:nvSpPr>
        <p:spPr>
          <a:xfrm rot="16200000">
            <a:off x="182879" y="2788920"/>
            <a:ext cx="7315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000000"/>
                </a:solidFill>
                <a:latin typeface="Arial"/>
              </a:rPr>
              <a:t>AAI to congener (%)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97280" y="1579880"/>
            <a:ext cx="3474720" cy="10160"/>
          </a:xfrm>
          <a:prstGeom prst="rect">
            <a:avLst/>
          </a:prstGeom>
          <a:noFill/>
          <a:ln w="10160">
            <a:solidFill>
              <a:srgbClr val="D55E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08268" y="1787469"/>
            <a:ext cx="416966" cy="3150290"/>
          </a:xfrm>
          <a:prstGeom prst="rect">
            <a:avLst/>
          </a:prstGeom>
          <a:solidFill>
            <a:srgbClr val="0072B2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25388" y="1558869"/>
            <a:ext cx="78272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93.5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03212" y="2073127"/>
            <a:ext cx="416966" cy="2864632"/>
          </a:xfrm>
          <a:prstGeom prst="rect">
            <a:avLst/>
          </a:prstGeom>
          <a:solidFill>
            <a:srgbClr val="0072B2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20332" y="1844527"/>
            <a:ext cx="78272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91.4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98156" y="3170163"/>
            <a:ext cx="416966" cy="1767596"/>
          </a:xfrm>
          <a:prstGeom prst="rect">
            <a:avLst/>
          </a:prstGeom>
          <a:solidFill>
            <a:srgbClr val="0072B2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15276" y="2941563"/>
            <a:ext cx="78272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83.2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93100" y="3266724"/>
            <a:ext cx="416966" cy="1671035"/>
          </a:xfrm>
          <a:prstGeom prst="rect">
            <a:avLst/>
          </a:prstGeom>
          <a:solidFill>
            <a:srgbClr val="0072B2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10220" y="3038124"/>
            <a:ext cx="78272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82.5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88044" y="3488009"/>
            <a:ext cx="416966" cy="1449750"/>
          </a:xfrm>
          <a:prstGeom prst="rect">
            <a:avLst/>
          </a:prstGeom>
          <a:solidFill>
            <a:srgbClr val="0072B2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05164" y="3259409"/>
            <a:ext cx="78272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80.8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0" y="4932997"/>
            <a:ext cx="347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664517" y="914400"/>
            <a:ext cx="9525" cy="402336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012942" y="493776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68112" y="5010912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S23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07886" y="493776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63056" y="5010912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C22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02830" y="493776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0" y="5010912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V3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97774" y="493776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52944" y="5010912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S13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92718" y="493776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47888" y="5010912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C13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14416" y="4933950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102352" y="485546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70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14416" y="3592830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102352" y="351434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14416" y="2251710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102352" y="217322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90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14416" y="1581150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102352" y="150266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95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14416" y="910590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102352" y="83210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0" y="5349240"/>
            <a:ext cx="38404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S16 vs</a:t>
            </a:r>
          </a:p>
        </p:txBody>
      </p:sp>
      <p:sp>
        <p:nvSpPr>
          <p:cNvPr id="72" name="TextBox 71"/>
          <p:cNvSpPr txBox="1"/>
          <p:nvPr/>
        </p:nvSpPr>
        <p:spPr>
          <a:xfrm rot="16200000">
            <a:off x="4754880" y="2788920"/>
            <a:ext cx="7315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000000"/>
                </a:solidFill>
                <a:latin typeface="Arial"/>
              </a:rPr>
              <a:t>AAI to congener (%)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669280" y="1579880"/>
            <a:ext cx="3474720" cy="10160"/>
          </a:xfrm>
          <a:prstGeom prst="rect">
            <a:avLst/>
          </a:prstGeom>
          <a:noFill/>
          <a:ln w="10160">
            <a:solidFill>
              <a:srgbClr val="D55E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035040"/>
            <a:ext cx="9509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Main Figure 5c — External ANI of the 6 study Sphingobacterium MAGs against 63 RefSeq references.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4128" y="1262742"/>
            <a:ext cx="329184" cy="1389017"/>
          </a:xfrm>
          <a:prstGeom prst="rect">
            <a:avLst/>
          </a:prstGeom>
          <a:solidFill>
            <a:srgbClr val="D55E00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034142"/>
            <a:ext cx="69494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94.50</a:t>
            </a:r>
          </a:p>
        </p:txBody>
      </p:sp>
      <p:sp>
        <p:nvSpPr>
          <p:cNvPr id="6" name="Rectangle 5"/>
          <p:cNvSpPr/>
          <p:nvPr/>
        </p:nvSpPr>
        <p:spPr>
          <a:xfrm>
            <a:off x="1572768" y="1272322"/>
            <a:ext cx="329184" cy="1379437"/>
          </a:xfrm>
          <a:prstGeom prst="rect">
            <a:avLst/>
          </a:prstGeom>
          <a:solidFill>
            <a:srgbClr val="D55E00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89888" y="1043722"/>
            <a:ext cx="69494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94.40</a:t>
            </a:r>
          </a:p>
        </p:txBody>
      </p:sp>
      <p:sp>
        <p:nvSpPr>
          <p:cNvPr id="8" name="Rectangle 7"/>
          <p:cNvSpPr/>
          <p:nvPr/>
        </p:nvSpPr>
        <p:spPr>
          <a:xfrm>
            <a:off x="2121408" y="1581737"/>
            <a:ext cx="329184" cy="1070022"/>
          </a:xfrm>
          <a:prstGeom prst="rect">
            <a:avLst/>
          </a:prstGeom>
          <a:solidFill>
            <a:srgbClr val="D55E00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38527" y="1353137"/>
            <a:ext cx="69494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91.17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70048" y="1644962"/>
            <a:ext cx="329184" cy="1006797"/>
          </a:xfrm>
          <a:prstGeom prst="rect">
            <a:avLst/>
          </a:prstGeom>
          <a:solidFill>
            <a:srgbClr val="D55E00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1416362"/>
            <a:ext cx="69494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90.51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7" y="2651760"/>
            <a:ext cx="329184" cy="7663542"/>
          </a:xfrm>
          <a:prstGeom prst="rect">
            <a:avLst/>
          </a:prstGeom>
          <a:solidFill>
            <a:srgbClr val="D55E00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5807" y="2423160"/>
            <a:ext cx="69494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0.00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646997"/>
            <a:ext cx="274320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9637" y="640080"/>
            <a:ext cx="9525" cy="20116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4910" y="2651760"/>
            <a:ext cx="7620" cy="5486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 rot="1800000">
            <a:off x="640080" y="2724912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GCF_003610355.1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33550" y="2651760"/>
            <a:ext cx="7620" cy="5486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 rot="1800000">
            <a:off x="1188719" y="2724912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GCF_039536865.1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2190" y="2651760"/>
            <a:ext cx="7620" cy="5486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 rot="1800000">
            <a:off x="1737360" y="2724912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GCF_003071065.1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0829" y="2651760"/>
            <a:ext cx="7620" cy="5486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 rot="1800000">
            <a:off x="2285999" y="2724912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GCF_050986225.1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79470" y="2651760"/>
            <a:ext cx="7620" cy="5486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 rot="1800000">
            <a:off x="2834640" y="2724912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GCF_000757725.1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9536" y="264795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1" y="256946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9536" y="1690007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1" y="1611521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90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9536" y="1211035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1" y="1132549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95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9536" y="732064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1" y="653578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3063240"/>
            <a:ext cx="31089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C13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1211035"/>
            <a:ext cx="2743200" cy="7620"/>
          </a:xfrm>
          <a:prstGeom prst="rect">
            <a:avLst/>
          </a:prstGeom>
          <a:noFill/>
          <a:ln w="762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41648" y="816341"/>
            <a:ext cx="329184" cy="1835418"/>
          </a:xfrm>
          <a:prstGeom prst="rect">
            <a:avLst/>
          </a:prstGeom>
          <a:solidFill>
            <a:srgbClr val="009E73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58768" y="587741"/>
            <a:ext cx="69494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99.16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90288" y="1051037"/>
            <a:ext cx="329184" cy="1600722"/>
          </a:xfrm>
          <a:prstGeom prst="rect">
            <a:avLst/>
          </a:prstGeom>
          <a:solidFill>
            <a:srgbClr val="009E73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07407" y="822437"/>
            <a:ext cx="69494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96.71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38928" y="1293397"/>
            <a:ext cx="329184" cy="1358362"/>
          </a:xfrm>
          <a:prstGeom prst="rect">
            <a:avLst/>
          </a:prstGeom>
          <a:solidFill>
            <a:srgbClr val="D55E00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56048" y="1064797"/>
            <a:ext cx="69494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94.18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87568" y="2651760"/>
            <a:ext cx="329184" cy="7663542"/>
          </a:xfrm>
          <a:prstGeom prst="rect">
            <a:avLst/>
          </a:prstGeom>
          <a:solidFill>
            <a:srgbClr val="D55E00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04688" y="2423160"/>
            <a:ext cx="69494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0.00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36208" y="2651760"/>
            <a:ext cx="329184" cy="7663542"/>
          </a:xfrm>
          <a:prstGeom prst="rect">
            <a:avLst/>
          </a:prstGeom>
          <a:solidFill>
            <a:srgbClr val="D55E00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53328" y="2423160"/>
            <a:ext cx="69494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0.00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931920" y="2646997"/>
            <a:ext cx="274320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927157" y="640080"/>
            <a:ext cx="9525" cy="20116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02430" y="2651760"/>
            <a:ext cx="7620" cy="5486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 rot="1800000">
            <a:off x="3657599" y="2724912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GCF_023277505.1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51070" y="2651760"/>
            <a:ext cx="7620" cy="5486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 rot="1800000">
            <a:off x="4206240" y="2724912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GCF_014109745.1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99710" y="2651760"/>
            <a:ext cx="7620" cy="5486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 rot="1800000">
            <a:off x="4754880" y="2724912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GCF_016894225.1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48350" y="2651760"/>
            <a:ext cx="7620" cy="5486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 rot="1800000">
            <a:off x="5303520" y="2724912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GCF_002980575.1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96990" y="2651760"/>
            <a:ext cx="7620" cy="5486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 rot="1800000">
            <a:off x="5852160" y="2724912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GCF_003071065.1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77056" y="2647950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64992" y="256946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77056" y="1690007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364992" y="1611521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90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77056" y="1211035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364992" y="1132549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95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77056" y="732064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364992" y="653578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49039" y="3063240"/>
            <a:ext cx="31089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C22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931920" y="1211035"/>
            <a:ext cx="2743200" cy="7620"/>
          </a:xfrm>
          <a:prstGeom prst="rect">
            <a:avLst/>
          </a:prstGeom>
          <a:noFill/>
          <a:ln w="762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059168" y="1256037"/>
            <a:ext cx="329184" cy="1395722"/>
          </a:xfrm>
          <a:prstGeom prst="rect">
            <a:avLst/>
          </a:prstGeom>
          <a:solidFill>
            <a:srgbClr val="D55E00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876288" y="1027437"/>
            <a:ext cx="69494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94.57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607808" y="1298186"/>
            <a:ext cx="329184" cy="1353573"/>
          </a:xfrm>
          <a:prstGeom prst="rect">
            <a:avLst/>
          </a:prstGeom>
          <a:solidFill>
            <a:srgbClr val="D55E00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424928" y="1069586"/>
            <a:ext cx="69494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94.13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156448" y="1802064"/>
            <a:ext cx="329184" cy="849695"/>
          </a:xfrm>
          <a:prstGeom prst="rect">
            <a:avLst/>
          </a:prstGeom>
          <a:solidFill>
            <a:srgbClr val="D55E00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973568" y="1573464"/>
            <a:ext cx="69494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88.87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705088" y="1879658"/>
            <a:ext cx="329184" cy="772101"/>
          </a:xfrm>
          <a:prstGeom prst="rect">
            <a:avLst/>
          </a:prstGeom>
          <a:solidFill>
            <a:srgbClr val="D55E00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522208" y="1651058"/>
            <a:ext cx="69494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88.06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253728" y="1949587"/>
            <a:ext cx="329184" cy="702172"/>
          </a:xfrm>
          <a:prstGeom prst="rect">
            <a:avLst/>
          </a:prstGeom>
          <a:solidFill>
            <a:srgbClr val="D55E00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070848" y="1720987"/>
            <a:ext cx="69494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87.33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949440" y="2646997"/>
            <a:ext cx="274320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44677" y="640080"/>
            <a:ext cx="9525" cy="20116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219950" y="2651760"/>
            <a:ext cx="7620" cy="5486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 rot="1800000">
            <a:off x="6675120" y="2724912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GCF_003610355.1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768590" y="2651760"/>
            <a:ext cx="7620" cy="5486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 rot="1800000">
            <a:off x="7223760" y="2724912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GCF_039536865.1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317230" y="2651760"/>
            <a:ext cx="7620" cy="5486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 rot="1800000">
            <a:off x="7772400" y="2724912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GCF_050986225.1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865870" y="2651760"/>
            <a:ext cx="7620" cy="5486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 rot="1800000">
            <a:off x="8321040" y="2724912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GCF_003071065.1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414510" y="2651760"/>
            <a:ext cx="7620" cy="5486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 rot="1800000">
            <a:off x="8869680" y="2724912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GCF_013167215.1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894576" y="2647950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82512" y="256946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894576" y="1690007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382512" y="1611521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90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894576" y="1211035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382512" y="1132549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95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894576" y="732064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382512" y="653578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766559" y="3063240"/>
            <a:ext cx="31089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S13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949440" y="1211035"/>
            <a:ext cx="2743200" cy="7620"/>
          </a:xfrm>
          <a:prstGeom prst="rect">
            <a:avLst/>
          </a:prstGeom>
          <a:noFill/>
          <a:ln w="762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24128" y="3885329"/>
            <a:ext cx="329184" cy="1326750"/>
          </a:xfrm>
          <a:prstGeom prst="rect">
            <a:avLst/>
          </a:prstGeom>
          <a:solidFill>
            <a:srgbClr val="D55E00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41248" y="3656729"/>
            <a:ext cx="69494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93.85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572768" y="4091286"/>
            <a:ext cx="329184" cy="1120793"/>
          </a:xfrm>
          <a:prstGeom prst="rect">
            <a:avLst/>
          </a:prstGeom>
          <a:solidFill>
            <a:srgbClr val="D55E00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389888" y="3862686"/>
            <a:ext cx="69494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91.70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121408" y="4143015"/>
            <a:ext cx="329184" cy="1069064"/>
          </a:xfrm>
          <a:prstGeom prst="rect">
            <a:avLst/>
          </a:prstGeom>
          <a:solidFill>
            <a:srgbClr val="D55E00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938527" y="3914415"/>
            <a:ext cx="69494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91.16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670048" y="4586543"/>
            <a:ext cx="329184" cy="625536"/>
          </a:xfrm>
          <a:prstGeom prst="rect">
            <a:avLst/>
          </a:prstGeom>
          <a:solidFill>
            <a:srgbClr val="D55E00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487168" y="4357943"/>
            <a:ext cx="69494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86.53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218687" y="5212080"/>
            <a:ext cx="329184" cy="7663542"/>
          </a:xfrm>
          <a:prstGeom prst="rect">
            <a:avLst/>
          </a:prstGeom>
          <a:solidFill>
            <a:srgbClr val="D55E00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35807" y="4983480"/>
            <a:ext cx="69494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0.00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14400" y="5207317"/>
            <a:ext cx="274320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09637" y="3200400"/>
            <a:ext cx="9525" cy="20116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184910" y="521208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 rot="1800000">
            <a:off x="640080" y="528523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GCF_016894225.1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733550" y="521208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 rot="1800000">
            <a:off x="1188719" y="528523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GCF_014109745.1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282190" y="521208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 rot="1800000">
            <a:off x="1737360" y="528523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GCF_023277505.1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830829" y="521208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 rot="1800000">
            <a:off x="2285999" y="528523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GCF_042647425.1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379470" y="521208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 rot="1800000">
            <a:off x="2834640" y="528523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GCF_002980575.1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59536" y="520827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47471" y="512978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80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59536" y="4250327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47471" y="4171841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90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59536" y="3771355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47471" y="3692869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95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59536" y="3292384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47471" y="3213898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31520" y="5623560"/>
            <a:ext cx="31089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S16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14400" y="3771355"/>
            <a:ext cx="2743200" cy="7620"/>
          </a:xfrm>
          <a:prstGeom prst="rect">
            <a:avLst/>
          </a:prstGeom>
          <a:noFill/>
          <a:ln w="762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041648" y="3395820"/>
            <a:ext cx="329184" cy="1816259"/>
          </a:xfrm>
          <a:prstGeom prst="rect">
            <a:avLst/>
          </a:prstGeom>
          <a:solidFill>
            <a:srgbClr val="009E73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3858768" y="3167220"/>
            <a:ext cx="69494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98.96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590288" y="3694698"/>
            <a:ext cx="329184" cy="1517381"/>
          </a:xfrm>
          <a:prstGeom prst="rect">
            <a:avLst/>
          </a:prstGeom>
          <a:solidFill>
            <a:srgbClr val="009E73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407407" y="3466098"/>
            <a:ext cx="69494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95.84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138928" y="4063506"/>
            <a:ext cx="329184" cy="1148573"/>
          </a:xfrm>
          <a:prstGeom prst="rect">
            <a:avLst/>
          </a:prstGeom>
          <a:solidFill>
            <a:srgbClr val="D55E00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956048" y="3834906"/>
            <a:ext cx="69494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91.99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5687568" y="4443809"/>
            <a:ext cx="329184" cy="768270"/>
          </a:xfrm>
          <a:prstGeom prst="rect">
            <a:avLst/>
          </a:prstGeom>
          <a:solidFill>
            <a:srgbClr val="D55E00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504688" y="4215209"/>
            <a:ext cx="69494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88.02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236208" y="5212080"/>
            <a:ext cx="329184" cy="7663542"/>
          </a:xfrm>
          <a:prstGeom prst="rect">
            <a:avLst/>
          </a:prstGeom>
          <a:solidFill>
            <a:srgbClr val="D55E00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053328" y="4983480"/>
            <a:ext cx="69494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0.00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931920" y="5207317"/>
            <a:ext cx="274320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3927157" y="3200400"/>
            <a:ext cx="9525" cy="20116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4202430" y="521208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 rot="1800000">
            <a:off x="3657599" y="528523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GCF_014109745.1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4751070" y="521208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 rot="1800000">
            <a:off x="4206240" y="528523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GCF_023277505.1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5299710" y="521208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 rot="1800000">
            <a:off x="4754880" y="528523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GCF_016894225.1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5848350" y="521208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 rot="1800000">
            <a:off x="5303520" y="528523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GCF_042647425.1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396990" y="521208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 rot="1800000">
            <a:off x="5852160" y="528523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GCF_002980575.1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3877056" y="5208270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3364992" y="512978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80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3877056" y="4250327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3364992" y="4171841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90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3877056" y="3771355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3364992" y="3692869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95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3877056" y="3292384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3364992" y="3213898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749039" y="5623560"/>
            <a:ext cx="31089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S23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3931920" y="3771355"/>
            <a:ext cx="2743200" cy="7620"/>
          </a:xfrm>
          <a:prstGeom prst="rect">
            <a:avLst/>
          </a:prstGeom>
          <a:noFill/>
          <a:ln w="762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59168" y="3766544"/>
            <a:ext cx="329184" cy="1445535"/>
          </a:xfrm>
          <a:prstGeom prst="rect">
            <a:avLst/>
          </a:prstGeom>
          <a:solidFill>
            <a:srgbClr val="009E73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6876288" y="3537944"/>
            <a:ext cx="69494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95.09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7607808" y="3790492"/>
            <a:ext cx="329184" cy="1421587"/>
          </a:xfrm>
          <a:prstGeom prst="rect">
            <a:avLst/>
          </a:prstGeom>
          <a:solidFill>
            <a:srgbClr val="D55E00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7424928" y="3561892"/>
            <a:ext cx="69494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94.84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8156448" y="4224440"/>
            <a:ext cx="329184" cy="987639"/>
          </a:xfrm>
          <a:prstGeom prst="rect">
            <a:avLst/>
          </a:prstGeom>
          <a:solidFill>
            <a:srgbClr val="D55E00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7973568" y="3995840"/>
            <a:ext cx="69494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90.31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8705088" y="4271380"/>
            <a:ext cx="329184" cy="940699"/>
          </a:xfrm>
          <a:prstGeom prst="rect">
            <a:avLst/>
          </a:prstGeom>
          <a:solidFill>
            <a:srgbClr val="D55E00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8522208" y="4042780"/>
            <a:ext cx="69494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89.82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9253728" y="4310655"/>
            <a:ext cx="329184" cy="901424"/>
          </a:xfrm>
          <a:prstGeom prst="rect">
            <a:avLst/>
          </a:prstGeom>
          <a:solidFill>
            <a:srgbClr val="D55E00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9070848" y="4082055"/>
            <a:ext cx="69494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89.41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949440" y="5207317"/>
            <a:ext cx="274320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6944677" y="3200400"/>
            <a:ext cx="9525" cy="20116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219950" y="521208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 rot="1800000">
            <a:off x="6675120" y="528523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GCF_003610355.1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7768590" y="521208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 rot="1800000">
            <a:off x="7223760" y="528523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GCF_039536865.1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8317230" y="521208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 rot="1800000">
            <a:off x="7772400" y="528523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GCF_050986225.1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8865870" y="521208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 rot="1800000">
            <a:off x="8321040" y="528523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GCF_013167215.1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9414510" y="521208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 rot="1800000">
            <a:off x="8869680" y="528523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GCF_003071065.1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6894576" y="5208270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6382512" y="512978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80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894576" y="4250327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6382512" y="4171841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90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6894576" y="3771355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6382512" y="3692869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95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6894576" y="3292384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6382512" y="3213898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6766559" y="5623560"/>
            <a:ext cx="31089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V3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6949440" y="3771355"/>
            <a:ext cx="2743200" cy="7620"/>
          </a:xfrm>
          <a:prstGeom prst="rect">
            <a:avLst/>
          </a:prstGeom>
          <a:noFill/>
          <a:ln w="762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035040"/>
            <a:ext cx="9509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Main Figure 6 — Permutation-tested MICP-complete vs rest trait-module enrichment; coloured by BH-FDR.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4" name="Rectangle 3"/>
          <p:cNvSpPr/>
          <p:nvPr/>
        </p:nvSpPr>
        <p:spPr>
          <a:xfrm>
            <a:off x="3921666" y="548640"/>
            <a:ext cx="10160" cy="5303520"/>
          </a:xfrm>
          <a:prstGeom prst="rect">
            <a:avLst/>
          </a:prstGeom>
          <a:noFill/>
          <a:ln w="10160">
            <a:solidFill>
              <a:srgbClr val="6B6B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72466" y="256031"/>
            <a:ext cx="2743200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0">
                <a:solidFill>
                  <a:srgbClr val="6B6B6B"/>
                </a:solidFill>
                <a:latin typeface="Arial"/>
              </a:rPr>
              <a:t>FC = 1 (no enrichment)</a:t>
            </a:r>
          </a:p>
        </p:txBody>
      </p:sp>
      <p:sp>
        <p:nvSpPr>
          <p:cNvPr id="6" name="Rectangle 5"/>
          <p:cNvSpPr/>
          <p:nvPr/>
        </p:nvSpPr>
        <p:spPr>
          <a:xfrm>
            <a:off x="3590066" y="665364"/>
            <a:ext cx="715405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86256" y="632598"/>
            <a:ext cx="7620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01662" y="632598"/>
            <a:ext cx="7620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931793" y="623454"/>
            <a:ext cx="91440" cy="91440"/>
          </a:xfrm>
          <a:prstGeom prst="ellipse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59446"/>
            <a:ext cx="21031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HGT_markers::plasmid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559446"/>
            <a:ext cx="38404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FC = 1.05   [0.71, 1.47]   q = 7.3e-01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66985" y="906433"/>
            <a:ext cx="386952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63175" y="873667"/>
            <a:ext cx="7620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50127" y="873667"/>
            <a:ext cx="7620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937379" y="864523"/>
            <a:ext cx="91440" cy="91440"/>
          </a:xfrm>
          <a:prstGeom prst="ellipse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800515"/>
            <a:ext cx="21031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Alkaline_Osmo::HSP_chaperone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800515"/>
            <a:ext cx="38404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FC = 1.06   [0.85, 1.26]   q = 6.9e-01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01082" y="1147502"/>
            <a:ext cx="463425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97272" y="1114736"/>
            <a:ext cx="7620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60697" y="1114736"/>
            <a:ext cx="7620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991554" y="1105592"/>
            <a:ext cx="91440" cy="91440"/>
          </a:xfrm>
          <a:prstGeom prst="ellipse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1041584"/>
            <a:ext cx="21031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MetalResist_AMR::beta_lactamase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1041584"/>
            <a:ext cx="38404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FC = 1.12   [0.88, 1.41]   q = 5.7e-01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18280" y="1388571"/>
            <a:ext cx="958587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14470" y="1355805"/>
            <a:ext cx="7620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73058" y="1355805"/>
            <a:ext cx="7620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94186" y="1346661"/>
            <a:ext cx="91440" cy="91440"/>
          </a:xfrm>
          <a:prstGeom prst="ellipse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1282653"/>
            <a:ext cx="21031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Biofilm_EPS::polysaccharide_intercellular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1282653"/>
            <a:ext cx="38404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FC = 1.12   [0.66, 1.75]   q = 5.7e-01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78482" y="1629640"/>
            <a:ext cx="553382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774672" y="1596874"/>
            <a:ext cx="7620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28054" y="1596874"/>
            <a:ext cx="7620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032000" y="1587730"/>
            <a:ext cx="91440" cy="91440"/>
          </a:xfrm>
          <a:prstGeom prst="ellipse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1523722"/>
            <a:ext cx="21031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Biofilm_EPS::adhesin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1523722"/>
            <a:ext cx="38404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FC = 1.17   [0.86, 1.51]   q = 5.7e-01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84027" y="1870709"/>
            <a:ext cx="208165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80217" y="1837943"/>
            <a:ext cx="7620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88382" y="1837943"/>
            <a:ext cx="7620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048718" y="1828799"/>
            <a:ext cx="91440" cy="91440"/>
          </a:xfrm>
          <a:prstGeom prst="ellipse">
            <a:avLst/>
          </a:prstGeom>
          <a:solidFill>
            <a:srgbClr val="E69F00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1764791"/>
            <a:ext cx="21031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MetalResist_AMR::metal_efflux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120" y="1764791"/>
            <a:ext cx="38404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FC = 1.19   [1.06, 1.31]   q = 1.9e-02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66985" y="2111779"/>
            <a:ext cx="748438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763175" y="2079013"/>
            <a:ext cx="7620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11613" y="2079013"/>
            <a:ext cx="7620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094864" y="2069869"/>
            <a:ext cx="91440" cy="91440"/>
          </a:xfrm>
          <a:prstGeom prst="ellipse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2005861"/>
            <a:ext cx="21031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HGT_markers::transposase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18120" y="2005861"/>
            <a:ext cx="38404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FC = 1.24   [0.85, 1.82]   q = 4.9e-01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965302" y="2352848"/>
            <a:ext cx="379497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961492" y="2320082"/>
            <a:ext cx="7620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40989" y="2320082"/>
            <a:ext cx="7620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119079" y="2310938"/>
            <a:ext cx="91440" cy="91440"/>
          </a:xfrm>
          <a:prstGeom prst="ellipse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2246930"/>
            <a:ext cx="21031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MetalResist_AMR::efflux_MDR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8120" y="2246930"/>
            <a:ext cx="38404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FC = 1.27   [1.04, 1.53]   q = 4.5e-01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438307" y="2593917"/>
            <a:ext cx="2616375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434497" y="2561151"/>
            <a:ext cx="7620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050872" y="2561151"/>
            <a:ext cx="7620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148721" y="2552007"/>
            <a:ext cx="91440" cy="91440"/>
          </a:xfrm>
          <a:prstGeom prst="ellipse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2487999"/>
            <a:ext cx="21031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Biofilm_EPS::alginate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18120" y="2487999"/>
            <a:ext cx="38404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FC = 1.31   [0.22, 3.15]   q = 5.7e-01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-23235498" y="2834986"/>
            <a:ext cx="28874906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-23239308" y="2802220"/>
            <a:ext cx="7620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35597" y="2802220"/>
            <a:ext cx="7620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231945" y="2793076"/>
            <a:ext cx="91440" cy="91440"/>
          </a:xfrm>
          <a:prstGeom prst="ellipse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2729068"/>
            <a:ext cx="21031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MetalResist_AMR::metallothionein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18120" y="2729068"/>
            <a:ext cx="38404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FC = 1.43   [0.00, 5.71]   q = 6.7e-01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064137" y="3076055"/>
            <a:ext cx="483171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060327" y="3043289"/>
            <a:ext cx="7620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543498" y="3043289"/>
            <a:ext cx="7620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282884" y="3034145"/>
            <a:ext cx="91440" cy="91440"/>
          </a:xfrm>
          <a:prstGeom prst="ellipse">
            <a:avLst/>
          </a:prstGeom>
          <a:solidFill>
            <a:srgbClr val="E69F00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48640" y="2970137"/>
            <a:ext cx="21031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Alkaline_Osmo::compatible_solute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18120" y="2970137"/>
            <a:ext cx="38404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FC = 1.50   [1.15, 1.88]   q = 1.8e-02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56965" y="3317124"/>
            <a:ext cx="1495656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653155" y="3284358"/>
            <a:ext cx="7620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148812" y="3284358"/>
            <a:ext cx="7620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459387" y="3275214"/>
            <a:ext cx="91440" cy="91440"/>
          </a:xfrm>
          <a:prstGeom prst="ellipse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48640" y="3211206"/>
            <a:ext cx="21031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Biofilm_EPS::cellulose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818120" y="3211206"/>
            <a:ext cx="38404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FC = 1.80   [0.76, 3.48]   q = 4.5e-01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141786" y="3558193"/>
            <a:ext cx="2105042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137976" y="3525427"/>
            <a:ext cx="7620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243019" y="3525427"/>
            <a:ext cx="7620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483114" y="3516283"/>
            <a:ext cx="91440" cy="91440"/>
          </a:xfrm>
          <a:prstGeom prst="ellipse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8640" y="3452275"/>
            <a:ext cx="21031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Biofilm_EPS::capsule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18120" y="3452275"/>
            <a:ext cx="38404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FC = 1.84   [0.45, 3.83]   q = 4.5e-01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21759" y="3799262"/>
            <a:ext cx="765100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217949" y="3766496"/>
            <a:ext cx="7620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983050" y="3766496"/>
            <a:ext cx="7620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4625243" y="3757352"/>
            <a:ext cx="91440" cy="91440"/>
          </a:xfrm>
          <a:prstGeom prst="ellipse">
            <a:avLst/>
          </a:prstGeom>
          <a:solidFill>
            <a:srgbClr val="D55E00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48640" y="3693344"/>
            <a:ext cx="21031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Biofilm_EPS::quorum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818120" y="3693344"/>
            <a:ext cx="38404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FC = 2.13   [1.35, 2.94]   q = 2.5e-03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946213" y="4040331"/>
            <a:ext cx="1250597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942403" y="4007565"/>
            <a:ext cx="7620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193001" y="4007565"/>
            <a:ext cx="7620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635335" y="3998421"/>
            <a:ext cx="91440" cy="91440"/>
          </a:xfrm>
          <a:prstGeom prst="ellipse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48640" y="3934413"/>
            <a:ext cx="21031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CAZyme_proxy::polysaccharide_lyase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818120" y="3934413"/>
            <a:ext cx="38404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FC = 2.15   [1.02, 3.64]   q = 2.3e-01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-23235498" y="4281400"/>
            <a:ext cx="28921966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-23239308" y="4248634"/>
            <a:ext cx="7620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682658" y="4248634"/>
            <a:ext cx="7620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661010" y="4239490"/>
            <a:ext cx="91440" cy="91440"/>
          </a:xfrm>
          <a:prstGeom prst="ellipse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48640" y="4175482"/>
            <a:ext cx="21031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CAZyme_proxy::carb_esterase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818120" y="4175482"/>
            <a:ext cx="38404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FC = 2.21   [0.00, 5.99]   q = 4.5e-01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169418" y="4522470"/>
            <a:ext cx="960341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165608" y="4489703"/>
            <a:ext cx="7620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125950" y="4489703"/>
            <a:ext cx="7620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700659" y="4480559"/>
            <a:ext cx="91440" cy="91440"/>
          </a:xfrm>
          <a:prstGeom prst="ellipse">
            <a:avLst/>
          </a:prstGeom>
          <a:solidFill>
            <a:srgbClr val="E69F00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48640" y="4416551"/>
            <a:ext cx="21031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Alkaline_Osmo::Na_H_antiporter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818120" y="4416551"/>
            <a:ext cx="38404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FC = 2.30   [1.28, 3.40]   q = 1.3e-02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471234" y="4763539"/>
            <a:ext cx="1378190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4467424" y="4730773"/>
            <a:ext cx="7620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5845614" y="4730773"/>
            <a:ext cx="7620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5296899" y="4721629"/>
            <a:ext cx="91440" cy="91440"/>
          </a:xfrm>
          <a:prstGeom prst="ellipse">
            <a:avLst/>
          </a:prstGeom>
          <a:solidFill>
            <a:srgbClr val="D55E00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48640" y="4657621"/>
            <a:ext cx="21031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MetalResist_AMR::tet_mac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818120" y="4657621"/>
            <a:ext cx="38404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FC = 4.22   [1.74, 7.07]   q = 2.5e-03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325332" y="5004608"/>
            <a:ext cx="169704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321522" y="4971842"/>
            <a:ext cx="7620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018566" y="4971842"/>
            <a:ext cx="7620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393509" y="4962698"/>
            <a:ext cx="91440" cy="91440"/>
          </a:xfrm>
          <a:prstGeom prst="ellipse">
            <a:avLst/>
          </a:prstGeom>
          <a:solidFill>
            <a:srgbClr val="D55E00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48640" y="4898690"/>
            <a:ext cx="21031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CAZyme_proxy::glycoside_hydrolase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818120" y="4898690"/>
            <a:ext cx="38404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FC = 4.66   [1.50, 8.43]   q = 2.8e-03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715141" y="5245677"/>
            <a:ext cx="1343859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4711331" y="5212911"/>
            <a:ext cx="7620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055191" y="5212911"/>
            <a:ext cx="7620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415423" y="5203767"/>
            <a:ext cx="91440" cy="91440"/>
          </a:xfrm>
          <a:prstGeom prst="ellipse">
            <a:avLst/>
          </a:prstGeom>
          <a:solidFill>
            <a:srgbClr val="D55E00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48640" y="5139759"/>
            <a:ext cx="21031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Alkaline_Osmo::oxidative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818120" y="5139759"/>
            <a:ext cx="38404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FC = 4.76   [2.23, 8.75]   q = 7.6e-03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169426" y="5486746"/>
            <a:ext cx="1794132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5165616" y="5453980"/>
            <a:ext cx="7620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6959748" y="5453980"/>
            <a:ext cx="7620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6122678" y="5444836"/>
            <a:ext cx="91440" cy="91440"/>
          </a:xfrm>
          <a:prstGeom prst="ellipse">
            <a:avLst/>
          </a:prstGeom>
          <a:solidFill>
            <a:srgbClr val="D55E00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48640" y="5380828"/>
            <a:ext cx="21031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CAZyme_proxy::carb_binding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818120" y="5380828"/>
            <a:ext cx="38404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FC = 9.78   [3.54, 21.96]   q = 2.5e-03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4736939" y="5727815"/>
            <a:ext cx="2905990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733129" y="5695049"/>
            <a:ext cx="7620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7639119" y="5695049"/>
            <a:ext cx="7620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6224652" y="5685905"/>
            <a:ext cx="91440" cy="91440"/>
          </a:xfrm>
          <a:prstGeom prst="ellipse">
            <a:avLst/>
          </a:prstGeom>
          <a:solidFill>
            <a:srgbClr val="E69F00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548640" y="5621897"/>
            <a:ext cx="21031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Alkaline_Osmo::Mrp_complex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818120" y="5621897"/>
            <a:ext cx="38404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FC = 10.85   [2.28, 43.83]   q = 1.1e-02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743200" y="5847397"/>
            <a:ext cx="502920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659416" y="5852159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114586" y="592531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0.1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922936" y="5852159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378106" y="592531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186457" y="5852159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5641627" y="592531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560320" y="6263640"/>
            <a:ext cx="53949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Fold-change enrichment (log scale)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955279" y="731520"/>
            <a:ext cx="18288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000000"/>
                </a:solidFill>
                <a:latin typeface="Arial"/>
              </a:rPr>
              <a:t>BH-FDR</a:t>
            </a:r>
          </a:p>
        </p:txBody>
      </p:sp>
      <p:sp>
        <p:nvSpPr>
          <p:cNvPr id="147" name="Oval 146"/>
          <p:cNvSpPr/>
          <p:nvPr/>
        </p:nvSpPr>
        <p:spPr>
          <a:xfrm>
            <a:off x="8010143" y="996695"/>
            <a:ext cx="109728" cy="109728"/>
          </a:xfrm>
          <a:prstGeom prst="ellipse">
            <a:avLst/>
          </a:prstGeom>
          <a:solidFill>
            <a:srgbClr val="D55E00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229600" y="960120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q &lt; 0.01</a:t>
            </a:r>
          </a:p>
        </p:txBody>
      </p:sp>
      <p:sp>
        <p:nvSpPr>
          <p:cNvPr id="149" name="Oval 148"/>
          <p:cNvSpPr/>
          <p:nvPr/>
        </p:nvSpPr>
        <p:spPr>
          <a:xfrm>
            <a:off x="8010143" y="1271016"/>
            <a:ext cx="109728" cy="109728"/>
          </a:xfrm>
          <a:prstGeom prst="ellipse">
            <a:avLst/>
          </a:prstGeom>
          <a:solidFill>
            <a:srgbClr val="E69F00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8229600" y="1234440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q &lt; 0.05</a:t>
            </a:r>
          </a:p>
        </p:txBody>
      </p:sp>
      <p:sp>
        <p:nvSpPr>
          <p:cNvPr id="151" name="Oval 150"/>
          <p:cNvSpPr/>
          <p:nvPr/>
        </p:nvSpPr>
        <p:spPr>
          <a:xfrm>
            <a:off x="8010143" y="1545336"/>
            <a:ext cx="109728" cy="109728"/>
          </a:xfrm>
          <a:prstGeom prst="ellipse">
            <a:avLst/>
          </a:prstGeom>
          <a:solidFill>
            <a:srgbClr val="F0E442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229600" y="1508760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q &lt; 0.10</a:t>
            </a:r>
          </a:p>
        </p:txBody>
      </p:sp>
      <p:sp>
        <p:nvSpPr>
          <p:cNvPr id="153" name="Oval 152"/>
          <p:cNvSpPr/>
          <p:nvPr/>
        </p:nvSpPr>
        <p:spPr>
          <a:xfrm>
            <a:off x="8010143" y="1819655"/>
            <a:ext cx="109728" cy="109728"/>
          </a:xfrm>
          <a:prstGeom prst="ellipse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229600" y="1783080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n.s.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035040"/>
            <a:ext cx="9509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Main Figure 7a — Pan-genome Jaccard PCoA, points coloured by waste source; PERMANOVA annotated.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4" name="Oval 3"/>
          <p:cNvSpPr/>
          <p:nvPr/>
        </p:nvSpPr>
        <p:spPr>
          <a:xfrm>
            <a:off x="3420908" y="2096490"/>
            <a:ext cx="91440" cy="91440"/>
          </a:xfrm>
          <a:prstGeom prst="ellipse">
            <a:avLst/>
          </a:prstGeom>
          <a:solidFill>
            <a:srgbClr val="C0392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47357" y="2259554"/>
            <a:ext cx="91440" cy="91440"/>
          </a:xfrm>
          <a:prstGeom prst="ellipse">
            <a:avLst/>
          </a:prstGeom>
          <a:solidFill>
            <a:srgbClr val="C0392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41070" y="2305100"/>
            <a:ext cx="91440" cy="91440"/>
          </a:xfrm>
          <a:prstGeom prst="ellipse">
            <a:avLst/>
          </a:prstGeom>
          <a:solidFill>
            <a:srgbClr val="C0392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444556" y="2290134"/>
            <a:ext cx="91440" cy="91440"/>
          </a:xfrm>
          <a:prstGeom prst="ellipse">
            <a:avLst/>
          </a:prstGeom>
          <a:solidFill>
            <a:srgbClr val="C0392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480901" y="2379442"/>
            <a:ext cx="91440" cy="91440"/>
          </a:xfrm>
          <a:prstGeom prst="ellipse">
            <a:avLst/>
          </a:prstGeom>
          <a:solidFill>
            <a:srgbClr val="C0392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366906" y="1812203"/>
            <a:ext cx="91440" cy="91440"/>
          </a:xfrm>
          <a:prstGeom prst="ellipse">
            <a:avLst/>
          </a:prstGeom>
          <a:solidFill>
            <a:srgbClr val="C0392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44777" y="2220060"/>
            <a:ext cx="91440" cy="91440"/>
          </a:xfrm>
          <a:prstGeom prst="ellipse">
            <a:avLst/>
          </a:prstGeom>
          <a:solidFill>
            <a:srgbClr val="C0392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24417" y="3757044"/>
            <a:ext cx="91440" cy="91440"/>
          </a:xfrm>
          <a:prstGeom prst="ellipse">
            <a:avLst/>
          </a:prstGeom>
          <a:solidFill>
            <a:srgbClr val="C0392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24417" y="3757044"/>
            <a:ext cx="91440" cy="91440"/>
          </a:xfrm>
          <a:prstGeom prst="ellipse">
            <a:avLst/>
          </a:prstGeom>
          <a:solidFill>
            <a:srgbClr val="C0392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24417" y="3757044"/>
            <a:ext cx="91440" cy="91440"/>
          </a:xfrm>
          <a:prstGeom prst="ellipse">
            <a:avLst/>
          </a:prstGeom>
          <a:solidFill>
            <a:srgbClr val="C0392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25365" y="3813074"/>
            <a:ext cx="91440" cy="91440"/>
          </a:xfrm>
          <a:prstGeom prst="ellipse">
            <a:avLst/>
          </a:prstGeom>
          <a:solidFill>
            <a:srgbClr val="C0392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291880" y="1106978"/>
            <a:ext cx="91440" cy="91440"/>
          </a:xfrm>
          <a:prstGeom prst="ellipse">
            <a:avLst/>
          </a:prstGeom>
          <a:solidFill>
            <a:srgbClr val="C0392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04520" y="2034139"/>
            <a:ext cx="91440" cy="91440"/>
          </a:xfrm>
          <a:prstGeom prst="ellipse">
            <a:avLst/>
          </a:prstGeom>
          <a:solidFill>
            <a:srgbClr val="C0392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417124" y="2262702"/>
            <a:ext cx="146304" cy="146304"/>
          </a:xfrm>
          <a:prstGeom prst="ellipse">
            <a:avLst/>
          </a:prstGeom>
          <a:solidFill>
            <a:srgbClr val="C0392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24417" y="3757044"/>
            <a:ext cx="91440" cy="91440"/>
          </a:xfrm>
          <a:prstGeom prst="ellipse">
            <a:avLst/>
          </a:prstGeom>
          <a:solidFill>
            <a:srgbClr val="C0392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599787" y="4275437"/>
            <a:ext cx="91440" cy="91440"/>
          </a:xfrm>
          <a:prstGeom prst="ellipse">
            <a:avLst/>
          </a:prstGeom>
          <a:solidFill>
            <a:srgbClr val="C0392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808701" y="3860285"/>
            <a:ext cx="91440" cy="91440"/>
          </a:xfrm>
          <a:prstGeom prst="ellipse">
            <a:avLst/>
          </a:prstGeom>
          <a:solidFill>
            <a:srgbClr val="C0392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81509" y="1703664"/>
            <a:ext cx="91440" cy="91440"/>
          </a:xfrm>
          <a:prstGeom prst="ellipse">
            <a:avLst/>
          </a:prstGeom>
          <a:solidFill>
            <a:srgbClr val="C0392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468012" y="2334282"/>
            <a:ext cx="91440" cy="91440"/>
          </a:xfrm>
          <a:prstGeom prst="ellipse">
            <a:avLst/>
          </a:prstGeom>
          <a:solidFill>
            <a:srgbClr val="C0392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301530" y="1172784"/>
            <a:ext cx="91440" cy="91440"/>
          </a:xfrm>
          <a:prstGeom prst="ellipse">
            <a:avLst/>
          </a:prstGeom>
          <a:solidFill>
            <a:srgbClr val="C0392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83002" y="2443657"/>
            <a:ext cx="91440" cy="91440"/>
          </a:xfrm>
          <a:prstGeom prst="ellipse">
            <a:avLst/>
          </a:prstGeom>
          <a:solidFill>
            <a:srgbClr val="C0392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24417" y="3757044"/>
            <a:ext cx="91440" cy="91440"/>
          </a:xfrm>
          <a:prstGeom prst="ellipse">
            <a:avLst/>
          </a:prstGeom>
          <a:solidFill>
            <a:srgbClr val="C0392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346401" y="1488484"/>
            <a:ext cx="91440" cy="91440"/>
          </a:xfrm>
          <a:prstGeom prst="ellipse">
            <a:avLst/>
          </a:prstGeom>
          <a:solidFill>
            <a:srgbClr val="296EC5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441461" y="2305850"/>
            <a:ext cx="91440" cy="91440"/>
          </a:xfrm>
          <a:prstGeom prst="ellipse">
            <a:avLst/>
          </a:prstGeom>
          <a:solidFill>
            <a:srgbClr val="296EC5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346812" y="1732803"/>
            <a:ext cx="91440" cy="91440"/>
          </a:xfrm>
          <a:prstGeom prst="ellipse">
            <a:avLst/>
          </a:prstGeom>
          <a:solidFill>
            <a:srgbClr val="296EC5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355691" y="1762809"/>
            <a:ext cx="91440" cy="91440"/>
          </a:xfrm>
          <a:prstGeom prst="ellipse">
            <a:avLst/>
          </a:prstGeom>
          <a:solidFill>
            <a:srgbClr val="296EC5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491863" y="2476256"/>
            <a:ext cx="91440" cy="91440"/>
          </a:xfrm>
          <a:prstGeom prst="ellipse">
            <a:avLst/>
          </a:prstGeom>
          <a:solidFill>
            <a:srgbClr val="296EC5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41070" y="2305100"/>
            <a:ext cx="91440" cy="91440"/>
          </a:xfrm>
          <a:prstGeom prst="ellipse">
            <a:avLst/>
          </a:prstGeom>
          <a:solidFill>
            <a:srgbClr val="296EC5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45154" y="3832946"/>
            <a:ext cx="146304" cy="146304"/>
          </a:xfrm>
          <a:prstGeom prst="ellipse">
            <a:avLst/>
          </a:prstGeom>
          <a:solidFill>
            <a:srgbClr val="296EC5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885431" y="3627862"/>
            <a:ext cx="91440" cy="91440"/>
          </a:xfrm>
          <a:prstGeom prst="ellipse">
            <a:avLst/>
          </a:prstGeom>
          <a:solidFill>
            <a:srgbClr val="296EC5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330291" y="1652955"/>
            <a:ext cx="91440" cy="91440"/>
          </a:xfrm>
          <a:prstGeom prst="ellipse">
            <a:avLst/>
          </a:prstGeom>
          <a:solidFill>
            <a:srgbClr val="296EC5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323574" y="1614357"/>
            <a:ext cx="91440" cy="91440"/>
          </a:xfrm>
          <a:prstGeom prst="ellipse">
            <a:avLst/>
          </a:prstGeom>
          <a:solidFill>
            <a:srgbClr val="296EC5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260425" y="902487"/>
            <a:ext cx="91440" cy="91440"/>
          </a:xfrm>
          <a:prstGeom prst="ellipse">
            <a:avLst/>
          </a:prstGeom>
          <a:solidFill>
            <a:srgbClr val="296EC5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361850" y="1805159"/>
            <a:ext cx="91440" cy="91440"/>
          </a:xfrm>
          <a:prstGeom prst="ellipse">
            <a:avLst/>
          </a:prstGeom>
          <a:solidFill>
            <a:srgbClr val="296EC5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006188" y="3412479"/>
            <a:ext cx="91440" cy="91440"/>
          </a:xfrm>
          <a:prstGeom prst="ellipse">
            <a:avLst/>
          </a:prstGeom>
          <a:solidFill>
            <a:srgbClr val="296EC5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368278" y="1825154"/>
            <a:ext cx="91440" cy="91440"/>
          </a:xfrm>
          <a:prstGeom prst="ellipse">
            <a:avLst/>
          </a:prstGeom>
          <a:solidFill>
            <a:srgbClr val="296EC5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770473" y="3864529"/>
            <a:ext cx="91440" cy="91440"/>
          </a:xfrm>
          <a:prstGeom prst="ellipse">
            <a:avLst/>
          </a:prstGeom>
          <a:solidFill>
            <a:srgbClr val="296EC5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260510" y="4899806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24417" y="3757044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386480" y="1943429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417124" y="2262702"/>
            <a:ext cx="146304" cy="146304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824417" y="3757044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458196" y="2354135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417124" y="2262702"/>
            <a:ext cx="146304" cy="146304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446665" y="2261706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108693" y="5232129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048660" y="5340473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824417" y="3757044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075852" y="5287872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258071" y="886819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824417" y="3757044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17124" y="2262702"/>
            <a:ext cx="146304" cy="146304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440916" y="2199662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326737" y="1635080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617583" y="4111482"/>
            <a:ext cx="146304" cy="146304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161297" y="5126704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441070" y="2305100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347754" y="1714377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263950" y="925163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446296" y="2221156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080790" y="5284939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326973" y="1607235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312733" y="1532961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392455" y="4675266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256391" y="876831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454017" y="2299423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447856" y="2269441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17094" y="2082420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045262" y="5341088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258729" y="891424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2235372" y="4963800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491863" y="2476256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461046" y="2331350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263767" y="927254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824417" y="3757044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6824417" y="3757044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6824417" y="3757044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259558" y="896900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2736293" y="4003531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330541" y="1653544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266060" y="938487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317702" y="1557913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2082810" y="5281056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351784" y="1736247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6824417" y="3757044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2512727" y="4456684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824417" y="3757044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2332331" y="4800605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2289597" y="4836555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2216614" y="4984905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441070" y="2305100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355833" y="1791145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6824417" y="3757044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2346842" y="4732137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2795580" y="3816377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3325554" y="1628949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3370134" y="1833883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3335788" y="1652791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325905" y="1599541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321177" y="1575696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2788925" y="3827019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3444556" y="2290134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3337421" y="1687344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3280083" y="1028526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2067015" y="5308566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3359377" y="1809739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3495494" y="2486905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3423225" y="2135727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380293" y="1912604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316595" y="1554117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2276832" y="4864586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828800" y="5664517"/>
            <a:ext cx="53035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824037" y="640080"/>
            <a:ext cx="9525" cy="5029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087172" y="566928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542342" y="574243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-0.297705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648233" y="566928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103403" y="574243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866327" y="566928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321497" y="574243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0.613712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773936" y="5382998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261872" y="5304512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-0.452219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773936" y="2828213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261872" y="2749727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773936" y="918741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261872" y="840255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0.337993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645920" y="6080760"/>
            <a:ext cx="56692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PCo1 (14.4%)</a:t>
            </a:r>
          </a:p>
        </p:txBody>
      </p:sp>
      <p:sp>
        <p:nvSpPr>
          <p:cNvPr id="130" name="TextBox 129"/>
          <p:cNvSpPr txBox="1"/>
          <p:nvPr/>
        </p:nvSpPr>
        <p:spPr>
          <a:xfrm rot="16200000">
            <a:off x="914400" y="3017520"/>
            <a:ext cx="7315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000000"/>
                </a:solidFill>
                <a:latin typeface="Arial"/>
              </a:rPr>
              <a:t>PCo2 (11.8%)</a:t>
            </a:r>
          </a:p>
        </p:txBody>
      </p:sp>
      <p:sp>
        <p:nvSpPr>
          <p:cNvPr id="131" name="Oval 130"/>
          <p:cNvSpPr/>
          <p:nvPr/>
        </p:nvSpPr>
        <p:spPr>
          <a:xfrm>
            <a:off x="3389692" y="2235270"/>
            <a:ext cx="201168" cy="201168"/>
          </a:xfrm>
          <a:prstGeom prst="ellipse">
            <a:avLst/>
          </a:prstGeom>
          <a:solidFill>
            <a:srgbClr val="0072B2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535996" y="2198694"/>
            <a:ext cx="10972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1" i="0">
                <a:solidFill>
                  <a:srgbClr val="0072B2"/>
                </a:solidFill>
                <a:latin typeface="Arial"/>
              </a:rPr>
              <a:t>C22</a:t>
            </a:r>
          </a:p>
        </p:txBody>
      </p:sp>
      <p:sp>
        <p:nvSpPr>
          <p:cNvPr id="133" name="Oval 132"/>
          <p:cNvSpPr/>
          <p:nvPr/>
        </p:nvSpPr>
        <p:spPr>
          <a:xfrm>
            <a:off x="2717722" y="3805514"/>
            <a:ext cx="201168" cy="201168"/>
          </a:xfrm>
          <a:prstGeom prst="ellipse">
            <a:avLst/>
          </a:prstGeom>
          <a:solidFill>
            <a:srgbClr val="D55E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864026" y="3768938"/>
            <a:ext cx="10972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1" i="0">
                <a:solidFill>
                  <a:srgbClr val="D55E00"/>
                </a:solidFill>
                <a:latin typeface="Arial"/>
              </a:rPr>
              <a:t>M1</a:t>
            </a:r>
          </a:p>
        </p:txBody>
      </p:sp>
      <p:sp>
        <p:nvSpPr>
          <p:cNvPr id="135" name="Oval 134"/>
          <p:cNvSpPr/>
          <p:nvPr/>
        </p:nvSpPr>
        <p:spPr>
          <a:xfrm>
            <a:off x="3389692" y="2235270"/>
            <a:ext cx="201168" cy="201168"/>
          </a:xfrm>
          <a:prstGeom prst="ellipse">
            <a:avLst/>
          </a:prstGeom>
          <a:solidFill>
            <a:srgbClr val="0072B2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3535996" y="2198694"/>
            <a:ext cx="10972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1" i="0">
                <a:solidFill>
                  <a:srgbClr val="0072B2"/>
                </a:solidFill>
                <a:latin typeface="Arial"/>
              </a:rPr>
              <a:t>S13</a:t>
            </a:r>
          </a:p>
        </p:txBody>
      </p:sp>
      <p:sp>
        <p:nvSpPr>
          <p:cNvPr id="137" name="Oval 136"/>
          <p:cNvSpPr/>
          <p:nvPr/>
        </p:nvSpPr>
        <p:spPr>
          <a:xfrm>
            <a:off x="3389692" y="2235270"/>
            <a:ext cx="201168" cy="201168"/>
          </a:xfrm>
          <a:prstGeom prst="ellipse">
            <a:avLst/>
          </a:prstGeom>
          <a:solidFill>
            <a:srgbClr val="0072B2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535996" y="2198694"/>
            <a:ext cx="10972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1" i="0">
                <a:solidFill>
                  <a:srgbClr val="0072B2"/>
                </a:solidFill>
                <a:latin typeface="Arial"/>
              </a:rPr>
              <a:t>S16</a:t>
            </a:r>
          </a:p>
        </p:txBody>
      </p:sp>
      <p:sp>
        <p:nvSpPr>
          <p:cNvPr id="139" name="Oval 138"/>
          <p:cNvSpPr/>
          <p:nvPr/>
        </p:nvSpPr>
        <p:spPr>
          <a:xfrm>
            <a:off x="3389692" y="2235270"/>
            <a:ext cx="201168" cy="201168"/>
          </a:xfrm>
          <a:prstGeom prst="ellipse">
            <a:avLst/>
          </a:prstGeom>
          <a:solidFill>
            <a:srgbClr val="0072B2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3535996" y="2198694"/>
            <a:ext cx="10972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1" i="0">
                <a:solidFill>
                  <a:srgbClr val="0072B2"/>
                </a:solidFill>
                <a:latin typeface="Arial"/>
              </a:rPr>
              <a:t>S23</a:t>
            </a:r>
          </a:p>
        </p:txBody>
      </p:sp>
      <p:sp>
        <p:nvSpPr>
          <p:cNvPr id="141" name="Oval 140"/>
          <p:cNvSpPr/>
          <p:nvPr/>
        </p:nvSpPr>
        <p:spPr>
          <a:xfrm>
            <a:off x="2590151" y="4084050"/>
            <a:ext cx="201168" cy="201168"/>
          </a:xfrm>
          <a:prstGeom prst="ellipse">
            <a:avLst/>
          </a:prstGeom>
          <a:solidFill>
            <a:srgbClr val="D55E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2736455" y="4047474"/>
            <a:ext cx="10972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1" i="0">
                <a:solidFill>
                  <a:srgbClr val="D55E00"/>
                </a:solidFill>
                <a:latin typeface="Arial"/>
              </a:rPr>
              <a:t>S26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389120" y="731519"/>
            <a:ext cx="27432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PERMANOVA (source):  F = 1.25,  P = 0.113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389120" y="960119"/>
            <a:ext cx="27432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PERMANOVA (genus):  F = 8.21,  P = 0.001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498079" y="914400"/>
            <a:ext cx="18288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000000"/>
                </a:solidFill>
                <a:latin typeface="Arial"/>
              </a:rPr>
              <a:t>Waste source</a:t>
            </a:r>
          </a:p>
        </p:txBody>
      </p:sp>
      <p:sp>
        <p:nvSpPr>
          <p:cNvPr id="146" name="Oval 145"/>
          <p:cNvSpPr/>
          <p:nvPr/>
        </p:nvSpPr>
        <p:spPr>
          <a:xfrm>
            <a:off x="7543799" y="1170432"/>
            <a:ext cx="128016" cy="128016"/>
          </a:xfrm>
          <a:prstGeom prst="ellipse">
            <a:avLst/>
          </a:prstGeom>
          <a:solidFill>
            <a:srgbClr val="C0392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772400" y="1143000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Cattle</a:t>
            </a:r>
          </a:p>
        </p:txBody>
      </p:sp>
      <p:sp>
        <p:nvSpPr>
          <p:cNvPr id="148" name="Oval 147"/>
          <p:cNvSpPr/>
          <p:nvPr/>
        </p:nvSpPr>
        <p:spPr>
          <a:xfrm>
            <a:off x="7543799" y="1444752"/>
            <a:ext cx="128016" cy="128016"/>
          </a:xfrm>
          <a:prstGeom prst="ellipse">
            <a:avLst/>
          </a:prstGeom>
          <a:solidFill>
            <a:srgbClr val="296EC5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7772400" y="1417320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Swine</a:t>
            </a:r>
          </a:p>
        </p:txBody>
      </p:sp>
      <p:sp>
        <p:nvSpPr>
          <p:cNvPr id="150" name="Oval 149"/>
          <p:cNvSpPr/>
          <p:nvPr/>
        </p:nvSpPr>
        <p:spPr>
          <a:xfrm>
            <a:off x="7543799" y="1719072"/>
            <a:ext cx="128016" cy="128016"/>
          </a:xfrm>
          <a:prstGeom prst="ellipse">
            <a:avLst/>
          </a:prstGeom>
          <a:solidFill>
            <a:srgbClr val="2B8A3E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7772400" y="1691640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Sheep</a:t>
            </a:r>
          </a:p>
        </p:txBody>
      </p:sp>
      <p:sp>
        <p:nvSpPr>
          <p:cNvPr id="152" name="Oval 151"/>
          <p:cNvSpPr/>
          <p:nvPr/>
        </p:nvSpPr>
        <p:spPr>
          <a:xfrm>
            <a:off x="7543799" y="1993392"/>
            <a:ext cx="128016" cy="128016"/>
          </a:xfrm>
          <a:prstGeom prst="ellipse">
            <a:avLst/>
          </a:prstGeom>
          <a:solidFill>
            <a:srgbClr val="E67E22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772400" y="1965960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Poultry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035040"/>
            <a:ext cx="9509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Main Figure 7b — Trait-module Euclidean PCoA (z-scored per-1k CDS), source-structured (pseudo-F = 2.71, P = 0.001).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4" name="Oval 3"/>
          <p:cNvSpPr/>
          <p:nvPr/>
        </p:nvSpPr>
        <p:spPr>
          <a:xfrm>
            <a:off x="3420908" y="2096490"/>
            <a:ext cx="91440" cy="91440"/>
          </a:xfrm>
          <a:prstGeom prst="ellipse">
            <a:avLst/>
          </a:prstGeom>
          <a:solidFill>
            <a:srgbClr val="C0392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47357" y="2259554"/>
            <a:ext cx="91440" cy="91440"/>
          </a:xfrm>
          <a:prstGeom prst="ellipse">
            <a:avLst/>
          </a:prstGeom>
          <a:solidFill>
            <a:srgbClr val="C0392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41070" y="2305100"/>
            <a:ext cx="91440" cy="91440"/>
          </a:xfrm>
          <a:prstGeom prst="ellipse">
            <a:avLst/>
          </a:prstGeom>
          <a:solidFill>
            <a:srgbClr val="C0392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444556" y="2290134"/>
            <a:ext cx="91440" cy="91440"/>
          </a:xfrm>
          <a:prstGeom prst="ellipse">
            <a:avLst/>
          </a:prstGeom>
          <a:solidFill>
            <a:srgbClr val="C0392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480901" y="2379442"/>
            <a:ext cx="91440" cy="91440"/>
          </a:xfrm>
          <a:prstGeom prst="ellipse">
            <a:avLst/>
          </a:prstGeom>
          <a:solidFill>
            <a:srgbClr val="C0392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366906" y="1812203"/>
            <a:ext cx="91440" cy="91440"/>
          </a:xfrm>
          <a:prstGeom prst="ellipse">
            <a:avLst/>
          </a:prstGeom>
          <a:solidFill>
            <a:srgbClr val="C0392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44777" y="2220060"/>
            <a:ext cx="91440" cy="91440"/>
          </a:xfrm>
          <a:prstGeom prst="ellipse">
            <a:avLst/>
          </a:prstGeom>
          <a:solidFill>
            <a:srgbClr val="C0392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24417" y="3757044"/>
            <a:ext cx="91440" cy="91440"/>
          </a:xfrm>
          <a:prstGeom prst="ellipse">
            <a:avLst/>
          </a:prstGeom>
          <a:solidFill>
            <a:srgbClr val="C0392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24417" y="3757044"/>
            <a:ext cx="91440" cy="91440"/>
          </a:xfrm>
          <a:prstGeom prst="ellipse">
            <a:avLst/>
          </a:prstGeom>
          <a:solidFill>
            <a:srgbClr val="C0392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24417" y="3757044"/>
            <a:ext cx="91440" cy="91440"/>
          </a:xfrm>
          <a:prstGeom prst="ellipse">
            <a:avLst/>
          </a:prstGeom>
          <a:solidFill>
            <a:srgbClr val="C0392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25365" y="3813074"/>
            <a:ext cx="91440" cy="91440"/>
          </a:xfrm>
          <a:prstGeom prst="ellipse">
            <a:avLst/>
          </a:prstGeom>
          <a:solidFill>
            <a:srgbClr val="C0392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291880" y="1106978"/>
            <a:ext cx="91440" cy="91440"/>
          </a:xfrm>
          <a:prstGeom prst="ellipse">
            <a:avLst/>
          </a:prstGeom>
          <a:solidFill>
            <a:srgbClr val="C0392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04520" y="2034139"/>
            <a:ext cx="91440" cy="91440"/>
          </a:xfrm>
          <a:prstGeom prst="ellipse">
            <a:avLst/>
          </a:prstGeom>
          <a:solidFill>
            <a:srgbClr val="C0392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417124" y="2262702"/>
            <a:ext cx="146304" cy="146304"/>
          </a:xfrm>
          <a:prstGeom prst="ellipse">
            <a:avLst/>
          </a:prstGeom>
          <a:solidFill>
            <a:srgbClr val="C0392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24417" y="3757044"/>
            <a:ext cx="91440" cy="91440"/>
          </a:xfrm>
          <a:prstGeom prst="ellipse">
            <a:avLst/>
          </a:prstGeom>
          <a:solidFill>
            <a:srgbClr val="C0392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599787" y="4275437"/>
            <a:ext cx="91440" cy="91440"/>
          </a:xfrm>
          <a:prstGeom prst="ellipse">
            <a:avLst/>
          </a:prstGeom>
          <a:solidFill>
            <a:srgbClr val="C0392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808701" y="3860285"/>
            <a:ext cx="91440" cy="91440"/>
          </a:xfrm>
          <a:prstGeom prst="ellipse">
            <a:avLst/>
          </a:prstGeom>
          <a:solidFill>
            <a:srgbClr val="C0392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81509" y="1703664"/>
            <a:ext cx="91440" cy="91440"/>
          </a:xfrm>
          <a:prstGeom prst="ellipse">
            <a:avLst/>
          </a:prstGeom>
          <a:solidFill>
            <a:srgbClr val="C0392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468012" y="2334282"/>
            <a:ext cx="91440" cy="91440"/>
          </a:xfrm>
          <a:prstGeom prst="ellipse">
            <a:avLst/>
          </a:prstGeom>
          <a:solidFill>
            <a:srgbClr val="C0392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301530" y="1172784"/>
            <a:ext cx="91440" cy="91440"/>
          </a:xfrm>
          <a:prstGeom prst="ellipse">
            <a:avLst/>
          </a:prstGeom>
          <a:solidFill>
            <a:srgbClr val="C0392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83002" y="2443657"/>
            <a:ext cx="91440" cy="91440"/>
          </a:xfrm>
          <a:prstGeom prst="ellipse">
            <a:avLst/>
          </a:prstGeom>
          <a:solidFill>
            <a:srgbClr val="C0392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24417" y="3757044"/>
            <a:ext cx="91440" cy="91440"/>
          </a:xfrm>
          <a:prstGeom prst="ellipse">
            <a:avLst/>
          </a:prstGeom>
          <a:solidFill>
            <a:srgbClr val="C0392B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346401" y="1488484"/>
            <a:ext cx="91440" cy="91440"/>
          </a:xfrm>
          <a:prstGeom prst="ellipse">
            <a:avLst/>
          </a:prstGeom>
          <a:solidFill>
            <a:srgbClr val="296EC5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441461" y="2305850"/>
            <a:ext cx="91440" cy="91440"/>
          </a:xfrm>
          <a:prstGeom prst="ellipse">
            <a:avLst/>
          </a:prstGeom>
          <a:solidFill>
            <a:srgbClr val="296EC5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346812" y="1732803"/>
            <a:ext cx="91440" cy="91440"/>
          </a:xfrm>
          <a:prstGeom prst="ellipse">
            <a:avLst/>
          </a:prstGeom>
          <a:solidFill>
            <a:srgbClr val="296EC5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355691" y="1762809"/>
            <a:ext cx="91440" cy="91440"/>
          </a:xfrm>
          <a:prstGeom prst="ellipse">
            <a:avLst/>
          </a:prstGeom>
          <a:solidFill>
            <a:srgbClr val="296EC5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491863" y="2476256"/>
            <a:ext cx="91440" cy="91440"/>
          </a:xfrm>
          <a:prstGeom prst="ellipse">
            <a:avLst/>
          </a:prstGeom>
          <a:solidFill>
            <a:srgbClr val="296EC5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41070" y="2305100"/>
            <a:ext cx="91440" cy="91440"/>
          </a:xfrm>
          <a:prstGeom prst="ellipse">
            <a:avLst/>
          </a:prstGeom>
          <a:solidFill>
            <a:srgbClr val="296EC5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45154" y="3832946"/>
            <a:ext cx="146304" cy="146304"/>
          </a:xfrm>
          <a:prstGeom prst="ellipse">
            <a:avLst/>
          </a:prstGeom>
          <a:solidFill>
            <a:srgbClr val="296EC5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885431" y="3627862"/>
            <a:ext cx="91440" cy="91440"/>
          </a:xfrm>
          <a:prstGeom prst="ellipse">
            <a:avLst/>
          </a:prstGeom>
          <a:solidFill>
            <a:srgbClr val="296EC5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330291" y="1652955"/>
            <a:ext cx="91440" cy="91440"/>
          </a:xfrm>
          <a:prstGeom prst="ellipse">
            <a:avLst/>
          </a:prstGeom>
          <a:solidFill>
            <a:srgbClr val="296EC5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323574" y="1614357"/>
            <a:ext cx="91440" cy="91440"/>
          </a:xfrm>
          <a:prstGeom prst="ellipse">
            <a:avLst/>
          </a:prstGeom>
          <a:solidFill>
            <a:srgbClr val="296EC5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260425" y="902487"/>
            <a:ext cx="91440" cy="91440"/>
          </a:xfrm>
          <a:prstGeom prst="ellipse">
            <a:avLst/>
          </a:prstGeom>
          <a:solidFill>
            <a:srgbClr val="296EC5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361850" y="1805159"/>
            <a:ext cx="91440" cy="91440"/>
          </a:xfrm>
          <a:prstGeom prst="ellipse">
            <a:avLst/>
          </a:prstGeom>
          <a:solidFill>
            <a:srgbClr val="296EC5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006188" y="3412479"/>
            <a:ext cx="91440" cy="91440"/>
          </a:xfrm>
          <a:prstGeom prst="ellipse">
            <a:avLst/>
          </a:prstGeom>
          <a:solidFill>
            <a:srgbClr val="296EC5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368278" y="1825154"/>
            <a:ext cx="91440" cy="91440"/>
          </a:xfrm>
          <a:prstGeom prst="ellipse">
            <a:avLst/>
          </a:prstGeom>
          <a:solidFill>
            <a:srgbClr val="296EC5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770473" y="3864529"/>
            <a:ext cx="91440" cy="91440"/>
          </a:xfrm>
          <a:prstGeom prst="ellipse">
            <a:avLst/>
          </a:prstGeom>
          <a:solidFill>
            <a:srgbClr val="296EC5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260510" y="4899806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24417" y="3757044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386480" y="1943429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417124" y="2262702"/>
            <a:ext cx="146304" cy="146304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824417" y="3757044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458196" y="2354135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417124" y="2262702"/>
            <a:ext cx="146304" cy="146304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446665" y="2261706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108693" y="5232129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048660" y="5340473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824417" y="3757044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075852" y="5287872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258071" y="886819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824417" y="3757044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17124" y="2262702"/>
            <a:ext cx="146304" cy="146304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440916" y="2199662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326737" y="1635080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617583" y="4111482"/>
            <a:ext cx="146304" cy="146304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161297" y="5126704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441070" y="2305100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347754" y="1714377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263950" y="925163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446296" y="2221156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080790" y="5284939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326973" y="1607235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312733" y="1532961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392455" y="4675266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256391" y="876831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454017" y="2299423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447856" y="2269441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17094" y="2082420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045262" y="5341088"/>
            <a:ext cx="91440" cy="91440"/>
          </a:xfrm>
          <a:prstGeom prst="ellipse">
            <a:avLst/>
          </a:prstGeom>
          <a:solidFill>
            <a:srgbClr val="2B8A3E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258729" y="891424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2235372" y="4963800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491863" y="2476256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461046" y="2331350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263767" y="927254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824417" y="3757044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6824417" y="3757044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6824417" y="3757044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259558" y="896900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2736293" y="4003531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330541" y="1653544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266060" y="938487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317702" y="1557913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2082810" y="5281056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351784" y="1736247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6824417" y="3757044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2512727" y="4456684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824417" y="3757044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2332331" y="4800605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2289597" y="4836555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2216614" y="4984905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441070" y="2305100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355833" y="1791145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6824417" y="3757044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2346842" y="4732137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2795580" y="3816377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3325554" y="1628949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3370134" y="1833883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3335788" y="1652791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325905" y="1599541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321177" y="1575696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2788925" y="3827019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3444556" y="2290134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3337421" y="1687344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3280083" y="1028526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2067015" y="5308566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3359377" y="1809739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3495494" y="2486905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3423225" y="2135727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380293" y="1912604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316595" y="1554117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2276832" y="4864586"/>
            <a:ext cx="91440" cy="91440"/>
          </a:xfrm>
          <a:prstGeom prst="ellipse">
            <a:avLst/>
          </a:prstGeom>
          <a:solidFill>
            <a:srgbClr val="E67E22"/>
          </a:solidFill>
          <a:ln w="31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828800" y="5664517"/>
            <a:ext cx="53035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824037" y="640080"/>
            <a:ext cx="9525" cy="5029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087172" y="566928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542342" y="574243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-0.297705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648233" y="566928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103403" y="574243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866327" y="566928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321497" y="574243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0.613712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773936" y="5382998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261872" y="5304512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-0.452219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773936" y="2828213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261872" y="2749727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773936" y="918741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261872" y="840255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0.337993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645920" y="6080760"/>
            <a:ext cx="56692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PCo1 (trait Z-Euclidean)</a:t>
            </a:r>
          </a:p>
        </p:txBody>
      </p:sp>
      <p:sp>
        <p:nvSpPr>
          <p:cNvPr id="130" name="TextBox 129"/>
          <p:cNvSpPr txBox="1"/>
          <p:nvPr/>
        </p:nvSpPr>
        <p:spPr>
          <a:xfrm rot="16200000">
            <a:off x="914400" y="3017520"/>
            <a:ext cx="7315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000000"/>
                </a:solidFill>
                <a:latin typeface="Arial"/>
              </a:rPr>
              <a:t>PCo2</a:t>
            </a:r>
          </a:p>
        </p:txBody>
      </p:sp>
      <p:sp>
        <p:nvSpPr>
          <p:cNvPr id="131" name="Oval 130"/>
          <p:cNvSpPr/>
          <p:nvPr/>
        </p:nvSpPr>
        <p:spPr>
          <a:xfrm>
            <a:off x="3389692" y="2235270"/>
            <a:ext cx="201168" cy="201168"/>
          </a:xfrm>
          <a:prstGeom prst="ellipse">
            <a:avLst/>
          </a:prstGeom>
          <a:solidFill>
            <a:srgbClr val="0072B2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2717722" y="3805514"/>
            <a:ext cx="201168" cy="201168"/>
          </a:xfrm>
          <a:prstGeom prst="ellipse">
            <a:avLst/>
          </a:prstGeom>
          <a:solidFill>
            <a:srgbClr val="D55E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3389692" y="2235270"/>
            <a:ext cx="201168" cy="201168"/>
          </a:xfrm>
          <a:prstGeom prst="ellipse">
            <a:avLst/>
          </a:prstGeom>
          <a:solidFill>
            <a:srgbClr val="0072B2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3389692" y="2235270"/>
            <a:ext cx="201168" cy="201168"/>
          </a:xfrm>
          <a:prstGeom prst="ellipse">
            <a:avLst/>
          </a:prstGeom>
          <a:solidFill>
            <a:srgbClr val="0072B2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3389692" y="2235270"/>
            <a:ext cx="201168" cy="201168"/>
          </a:xfrm>
          <a:prstGeom prst="ellipse">
            <a:avLst/>
          </a:prstGeom>
          <a:solidFill>
            <a:srgbClr val="0072B2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2590151" y="4084050"/>
            <a:ext cx="201168" cy="201168"/>
          </a:xfrm>
          <a:prstGeom prst="ellipse">
            <a:avLst/>
          </a:prstGeom>
          <a:solidFill>
            <a:srgbClr val="D55E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206240" y="731519"/>
            <a:ext cx="29260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PERMANOVA (source): F = 2.71, P = 0.001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035040"/>
            <a:ext cx="9509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Main Figure 8a — UreC active-site residue conservation vs S. pasteurii (42/42 matches).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1280160"/>
            <a:ext cx="868680" cy="54864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29968" y="1444752"/>
            <a:ext cx="83210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360" y="1280160"/>
            <a:ext cx="868680" cy="54864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98648" y="1444752"/>
            <a:ext cx="83210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8" name="Rectangle 7"/>
          <p:cNvSpPr/>
          <p:nvPr/>
        </p:nvSpPr>
        <p:spPr>
          <a:xfrm>
            <a:off x="3749039" y="1280160"/>
            <a:ext cx="868680" cy="54864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67327" y="1444752"/>
            <a:ext cx="83210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280160"/>
            <a:ext cx="868680" cy="54864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444752"/>
            <a:ext cx="83210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1280160"/>
            <a:ext cx="868680" cy="54864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4688" y="1444752"/>
            <a:ext cx="83210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280160"/>
            <a:ext cx="868680" cy="54864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444752"/>
            <a:ext cx="83210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59" y="1280160"/>
            <a:ext cx="868680" cy="54864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42047" y="1444752"/>
            <a:ext cx="83210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1828800"/>
            <a:ext cx="868680" cy="54864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29968" y="1993391"/>
            <a:ext cx="83210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360" y="1828800"/>
            <a:ext cx="868680" cy="54864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98648" y="1993391"/>
            <a:ext cx="83210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39" y="1828800"/>
            <a:ext cx="868680" cy="54864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67327" y="1993391"/>
            <a:ext cx="83210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17720" y="1828800"/>
            <a:ext cx="868680" cy="54864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36007" y="1993391"/>
            <a:ext cx="83210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0" y="1828800"/>
            <a:ext cx="868680" cy="54864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04688" y="1993391"/>
            <a:ext cx="83210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828800"/>
            <a:ext cx="868680" cy="54864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3368" y="1993391"/>
            <a:ext cx="83210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23759" y="1828800"/>
            <a:ext cx="868680" cy="54864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42047" y="1993391"/>
            <a:ext cx="83210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11680" y="2377439"/>
            <a:ext cx="868680" cy="54864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29968" y="2542031"/>
            <a:ext cx="83210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80360" y="2377439"/>
            <a:ext cx="868680" cy="54864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98648" y="2542031"/>
            <a:ext cx="83210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49039" y="2377439"/>
            <a:ext cx="868680" cy="54864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67327" y="2542031"/>
            <a:ext cx="83210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17720" y="2377439"/>
            <a:ext cx="868680" cy="54864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36007" y="2542031"/>
            <a:ext cx="83210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0" y="2377439"/>
            <a:ext cx="868680" cy="54864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04688" y="2542031"/>
            <a:ext cx="83210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5080" y="2377439"/>
            <a:ext cx="868680" cy="54864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73368" y="2542031"/>
            <a:ext cx="83210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23759" y="2377439"/>
            <a:ext cx="868680" cy="54864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42047" y="2542031"/>
            <a:ext cx="83210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11680" y="2926079"/>
            <a:ext cx="868680" cy="54864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9968" y="3090671"/>
            <a:ext cx="83210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80360" y="2926079"/>
            <a:ext cx="868680" cy="54864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98648" y="3090671"/>
            <a:ext cx="83210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49039" y="2926079"/>
            <a:ext cx="868680" cy="54864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67327" y="3090671"/>
            <a:ext cx="83210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17720" y="2926079"/>
            <a:ext cx="868680" cy="54864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36007" y="3090671"/>
            <a:ext cx="83210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0" y="2926079"/>
            <a:ext cx="868680" cy="54864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04688" y="3090671"/>
            <a:ext cx="83210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55080" y="2926079"/>
            <a:ext cx="868680" cy="54864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73368" y="3090671"/>
            <a:ext cx="83210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223759" y="2926079"/>
            <a:ext cx="868680" cy="54864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42047" y="3090671"/>
            <a:ext cx="83210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11680" y="3474720"/>
            <a:ext cx="868680" cy="54864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29968" y="3639311"/>
            <a:ext cx="83210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880360" y="3474720"/>
            <a:ext cx="868680" cy="54864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898648" y="3639311"/>
            <a:ext cx="83210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749039" y="3474720"/>
            <a:ext cx="868680" cy="54864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767327" y="3639311"/>
            <a:ext cx="83210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K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17720" y="3474720"/>
            <a:ext cx="868680" cy="54864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636007" y="3639311"/>
            <a:ext cx="83210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0" y="3474720"/>
            <a:ext cx="868680" cy="54864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504688" y="3639311"/>
            <a:ext cx="83210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355080" y="3474720"/>
            <a:ext cx="868680" cy="54864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73368" y="3639311"/>
            <a:ext cx="83210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223759" y="3474720"/>
            <a:ext cx="868680" cy="54864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242047" y="3639311"/>
            <a:ext cx="83210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011680" y="4023360"/>
            <a:ext cx="868680" cy="54864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029968" y="4187952"/>
            <a:ext cx="83210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880360" y="4023360"/>
            <a:ext cx="868680" cy="54864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898648" y="4187952"/>
            <a:ext cx="83210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749039" y="4023360"/>
            <a:ext cx="868680" cy="54864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767327" y="4187952"/>
            <a:ext cx="83210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K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617720" y="4023360"/>
            <a:ext cx="868680" cy="54864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636007" y="4187952"/>
            <a:ext cx="83210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486400" y="4023360"/>
            <a:ext cx="868680" cy="54864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504688" y="4187952"/>
            <a:ext cx="83210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355080" y="4023360"/>
            <a:ext cx="868680" cy="54864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373368" y="4187952"/>
            <a:ext cx="83210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223759" y="4023360"/>
            <a:ext cx="868680" cy="54864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242047" y="4187952"/>
            <a:ext cx="83210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97280" y="1444752"/>
            <a:ext cx="8686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0072B2"/>
                </a:solidFill>
                <a:latin typeface="Arial"/>
              </a:rPr>
              <a:t>S13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97280" y="1993391"/>
            <a:ext cx="8686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0072B2"/>
                </a:solidFill>
                <a:latin typeface="Arial"/>
              </a:rPr>
              <a:t>S16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97280" y="2542031"/>
            <a:ext cx="8686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0072B2"/>
                </a:solidFill>
                <a:latin typeface="Arial"/>
              </a:rPr>
              <a:t>S23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97280" y="3090671"/>
            <a:ext cx="8686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0072B2"/>
                </a:solidFill>
                <a:latin typeface="Arial"/>
              </a:rPr>
              <a:t>C22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97280" y="3639311"/>
            <a:ext cx="8686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D55E00"/>
                </a:solidFill>
                <a:latin typeface="Arial"/>
              </a:rPr>
              <a:t>M1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97280" y="4187952"/>
            <a:ext cx="8686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D55E00"/>
                </a:solidFill>
                <a:latin typeface="Arial"/>
              </a:rPr>
              <a:t>S26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828800" y="868680"/>
            <a:ext cx="123444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H137
(H)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697480" y="868680"/>
            <a:ext cx="123444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H139
(H)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566159" y="868680"/>
            <a:ext cx="123444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K220
(K)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434840" y="868680"/>
            <a:ext cx="123444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H249
(H)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303520" y="868680"/>
            <a:ext cx="123444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H275
(H)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172200" y="868680"/>
            <a:ext cx="123444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D363
(D)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040879" y="868680"/>
            <a:ext cx="123444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C322
(C)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14400" y="4251960"/>
            <a:ext cx="73152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UreC active-site residue (P41020 / PDB 4CEU numbering)</a:t>
            </a:r>
          </a:p>
        </p:txBody>
      </p:sp>
      <p:sp>
        <p:nvSpPr>
          <p:cNvPr id="102" name="TextBox 101"/>
          <p:cNvSpPr txBox="1"/>
          <p:nvPr/>
        </p:nvSpPr>
        <p:spPr>
          <a:xfrm rot="16200000">
            <a:off x="365760" y="2377440"/>
            <a:ext cx="54864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MICP-complete MAG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011680" y="4663440"/>
            <a:ext cx="256032" cy="182880"/>
          </a:xfrm>
          <a:prstGeom prst="rect">
            <a:avLst/>
          </a:prstGeom>
          <a:solidFill>
            <a:srgbClr val="009E73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331720" y="4645152"/>
            <a:ext cx="12801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match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474720" y="4663440"/>
            <a:ext cx="256032" cy="182880"/>
          </a:xfrm>
          <a:prstGeom prst="rect">
            <a:avLst/>
          </a:prstGeom>
          <a:solidFill>
            <a:srgbClr val="D55E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794760" y="4645152"/>
            <a:ext cx="12801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mismatch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035040"/>
            <a:ext cx="9509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Main Figure 8b — ESMFold UreC vs PDB 4CEU — TM-score (left) + backbone RMSD (right), 6/6 TM &gt; 0.5 threshold.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4" name="Rectangle 3"/>
          <p:cNvSpPr/>
          <p:nvPr/>
        </p:nvSpPr>
        <p:spPr>
          <a:xfrm>
            <a:off x="1834896" y="2150567"/>
            <a:ext cx="310896" cy="3335832"/>
          </a:xfrm>
          <a:prstGeom prst="rect">
            <a:avLst/>
          </a:prstGeom>
          <a:solidFill>
            <a:srgbClr val="0072B2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43456" y="1949399"/>
            <a:ext cx="493776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0.620</a:t>
            </a:r>
          </a:p>
        </p:txBody>
      </p:sp>
      <p:sp>
        <p:nvSpPr>
          <p:cNvPr id="6" name="Rectangle 5"/>
          <p:cNvSpPr/>
          <p:nvPr/>
        </p:nvSpPr>
        <p:spPr>
          <a:xfrm>
            <a:off x="2182368" y="2311040"/>
            <a:ext cx="310896" cy="3175359"/>
          </a:xfrm>
          <a:prstGeom prst="rect">
            <a:avLst/>
          </a:prstGeom>
          <a:solidFill>
            <a:srgbClr val="CBD5E0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90928" y="2109872"/>
            <a:ext cx="493776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4.17</a:t>
            </a:r>
          </a:p>
        </p:txBody>
      </p:sp>
      <p:sp>
        <p:nvSpPr>
          <p:cNvPr id="8" name="Rectangle 7"/>
          <p:cNvSpPr/>
          <p:nvPr/>
        </p:nvSpPr>
        <p:spPr>
          <a:xfrm>
            <a:off x="2871216" y="2188686"/>
            <a:ext cx="310896" cy="3297713"/>
          </a:xfrm>
          <a:prstGeom prst="rect">
            <a:avLst/>
          </a:prstGeom>
          <a:solidFill>
            <a:srgbClr val="0072B2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9776" y="1987518"/>
            <a:ext cx="493776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0.613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18688" y="2202315"/>
            <a:ext cx="310896" cy="3284084"/>
          </a:xfrm>
          <a:prstGeom prst="rect">
            <a:avLst/>
          </a:prstGeom>
          <a:solidFill>
            <a:srgbClr val="CBD5E0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27248" y="2001147"/>
            <a:ext cx="493776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4.31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7536" y="2193494"/>
            <a:ext cx="310896" cy="3292905"/>
          </a:xfrm>
          <a:prstGeom prst="rect">
            <a:avLst/>
          </a:prstGeom>
          <a:solidFill>
            <a:srgbClr val="0072B2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6096" y="1992326"/>
            <a:ext cx="493776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0.612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5007" y="2175903"/>
            <a:ext cx="310896" cy="3310496"/>
          </a:xfrm>
          <a:prstGeom prst="rect">
            <a:avLst/>
          </a:prstGeom>
          <a:solidFill>
            <a:srgbClr val="CBD5E0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3567" y="1974735"/>
            <a:ext cx="493776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4.34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43856" y="1840345"/>
            <a:ext cx="310896" cy="3646054"/>
          </a:xfrm>
          <a:prstGeom prst="rect">
            <a:avLst/>
          </a:prstGeom>
          <a:solidFill>
            <a:srgbClr val="0072B2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52416" y="1639177"/>
            <a:ext cx="493776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0.678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91328" y="2804515"/>
            <a:ext cx="310896" cy="2681884"/>
          </a:xfrm>
          <a:prstGeom prst="rect">
            <a:avLst/>
          </a:prstGeom>
          <a:solidFill>
            <a:srgbClr val="CBD5E0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99888" y="2603347"/>
            <a:ext cx="493776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3.52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0176" y="2273340"/>
            <a:ext cx="310896" cy="3213059"/>
          </a:xfrm>
          <a:prstGeom prst="rect">
            <a:avLst/>
          </a:prstGeom>
          <a:solidFill>
            <a:srgbClr val="D55E00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88736" y="2072172"/>
            <a:ext cx="493776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0.597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7647" y="2300628"/>
            <a:ext cx="310896" cy="3185771"/>
          </a:xfrm>
          <a:prstGeom prst="rect">
            <a:avLst/>
          </a:prstGeom>
          <a:solidFill>
            <a:srgbClr val="CBD5E0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7" y="2099460"/>
            <a:ext cx="493776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4.18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16496" y="2262543"/>
            <a:ext cx="310896" cy="3223856"/>
          </a:xfrm>
          <a:prstGeom prst="rect">
            <a:avLst/>
          </a:prstGeom>
          <a:solidFill>
            <a:srgbClr val="D55E00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25056" y="2061375"/>
            <a:ext cx="493776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0.599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63967" y="2408294"/>
            <a:ext cx="310896" cy="3078105"/>
          </a:xfrm>
          <a:prstGeom prst="rect">
            <a:avLst/>
          </a:prstGeom>
          <a:solidFill>
            <a:srgbClr val="CBD5E0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72528" y="2207126"/>
            <a:ext cx="493776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4.04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45920" y="5481637"/>
            <a:ext cx="62179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641157" y="914400"/>
            <a:ext cx="9525" cy="4572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160270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15440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S13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96590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51760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S16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32910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88080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S23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69230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24400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C22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5550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0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M1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41870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97040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S26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591056" y="548259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8992" y="540410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591056" y="4406825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78992" y="4328339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91056" y="333106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78992" y="325257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591056" y="2793178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78992" y="2714692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591056" y="2255295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78992" y="2176809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91056" y="1179531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78992" y="1101045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54" name="TextBox 53"/>
          <p:cNvSpPr txBox="1"/>
          <p:nvPr/>
        </p:nvSpPr>
        <p:spPr>
          <a:xfrm rot="16200000">
            <a:off x="731520" y="3063240"/>
            <a:ext cx="7315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000000"/>
                </a:solidFill>
                <a:latin typeface="Arial"/>
              </a:rPr>
              <a:t>TM-score (vs 4CEU)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59077" y="914400"/>
            <a:ext cx="9525" cy="4572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63840" y="548259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936992" y="5394960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863840" y="472059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936992" y="4632960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863840" y="395859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936992" y="3870960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863840" y="319659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936992" y="3108960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63840" y="243459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936992" y="2346960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863840" y="1672589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936992" y="1584959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863840" y="91059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936992" y="822960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 rot="16200000">
            <a:off x="8412480" y="3063240"/>
            <a:ext cx="6400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000000"/>
                </a:solidFill>
                <a:latin typeface="Arial"/>
              </a:rPr>
              <a:t>RMSD (Å)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45920" y="2791273"/>
            <a:ext cx="6217920" cy="11430"/>
          </a:xfrm>
          <a:prstGeom prst="rect">
            <a:avLst/>
          </a:prstGeom>
          <a:noFill/>
          <a:ln w="1143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91640" y="2595820"/>
            <a:ext cx="32004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Same-fold threshold (TM = 0.5)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737360" y="548640"/>
            <a:ext cx="164592" cy="128016"/>
          </a:xfrm>
          <a:prstGeom prst="rect">
            <a:avLst/>
          </a:prstGeom>
          <a:solidFill>
            <a:srgbClr val="0072B2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938528" y="530352"/>
            <a:ext cx="23774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TM-score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206240" y="548640"/>
            <a:ext cx="164592" cy="128016"/>
          </a:xfrm>
          <a:prstGeom prst="rect">
            <a:avLst/>
          </a:prstGeom>
          <a:solidFill>
            <a:srgbClr val="CBD5E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407408" y="530352"/>
            <a:ext cx="18288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Backbone RMSD (Å)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035040"/>
            <a:ext cx="9509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Main Figure 8c — MGnify 7,599 clusters: pooled 3.07% MICP gene-complete vs 6/6 = 100% in this study (~30x enrichment).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4" name="Rectangle 3"/>
          <p:cNvSpPr/>
          <p:nvPr/>
        </p:nvSpPr>
        <p:spPr>
          <a:xfrm>
            <a:off x="1649577" y="5430940"/>
            <a:ext cx="435254" cy="55459"/>
          </a:xfrm>
          <a:prstGeom prst="rect">
            <a:avLst/>
          </a:prstGeom>
          <a:solidFill>
            <a:srgbClr val="0072B2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8137" y="5229772"/>
            <a:ext cx="618134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1.28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4832" y="5343840"/>
            <a:ext cx="435254" cy="142559"/>
          </a:xfrm>
          <a:prstGeom prst="rect">
            <a:avLst/>
          </a:prstGeom>
          <a:solidFill>
            <a:srgbClr val="56B4E9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93392" y="5142672"/>
            <a:ext cx="618134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3.30</a:t>
            </a:r>
          </a:p>
        </p:txBody>
      </p:sp>
      <p:sp>
        <p:nvSpPr>
          <p:cNvPr id="8" name="Rectangle 7"/>
          <p:cNvSpPr/>
          <p:nvPr/>
        </p:nvSpPr>
        <p:spPr>
          <a:xfrm>
            <a:off x="2893161" y="5440623"/>
            <a:ext cx="435254" cy="45776"/>
          </a:xfrm>
          <a:prstGeom prst="rect">
            <a:avLst/>
          </a:prstGeom>
          <a:solidFill>
            <a:srgbClr val="0072B2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01721" y="5239455"/>
            <a:ext cx="618134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1.06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28416" y="5478446"/>
            <a:ext cx="435254" cy="7953"/>
          </a:xfrm>
          <a:prstGeom prst="rect">
            <a:avLst/>
          </a:prstGeom>
          <a:solidFill>
            <a:srgbClr val="56B4E9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36976" y="5277278"/>
            <a:ext cx="618134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0.18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36745" y="5275931"/>
            <a:ext cx="435254" cy="210468"/>
          </a:xfrm>
          <a:prstGeom prst="rect">
            <a:avLst/>
          </a:prstGeom>
          <a:solidFill>
            <a:srgbClr val="0072B2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45305" y="5074763"/>
            <a:ext cx="618134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4.87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5206813"/>
            <a:ext cx="435254" cy="279586"/>
          </a:xfrm>
          <a:prstGeom prst="rect">
            <a:avLst/>
          </a:prstGeom>
          <a:solidFill>
            <a:srgbClr val="56B4E9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5005645"/>
            <a:ext cx="618134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6.47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80329" y="5133285"/>
            <a:ext cx="435254" cy="353114"/>
          </a:xfrm>
          <a:prstGeom prst="rect">
            <a:avLst/>
          </a:prstGeom>
          <a:solidFill>
            <a:srgbClr val="0072B2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88889" y="4932117"/>
            <a:ext cx="618134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8.17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15583" y="5218267"/>
            <a:ext cx="435254" cy="268132"/>
          </a:xfrm>
          <a:prstGeom prst="rect">
            <a:avLst/>
          </a:prstGeom>
          <a:solidFill>
            <a:srgbClr val="56B4E9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24144" y="5017099"/>
            <a:ext cx="618134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6.20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3913" y="5353860"/>
            <a:ext cx="435254" cy="132539"/>
          </a:xfrm>
          <a:prstGeom prst="rect">
            <a:avLst/>
          </a:prstGeom>
          <a:solidFill>
            <a:srgbClr val="0072B2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2473" y="5152692"/>
            <a:ext cx="618134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3.07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9167" y="5335657"/>
            <a:ext cx="435254" cy="150742"/>
          </a:xfrm>
          <a:prstGeom prst="rect">
            <a:avLst/>
          </a:prstGeom>
          <a:solidFill>
            <a:srgbClr val="56B4E9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7" y="5134489"/>
            <a:ext cx="618134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3.49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63040" y="5481637"/>
            <a:ext cx="62179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458277" y="731520"/>
            <a:ext cx="9525" cy="47548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81022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36192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Cow rumen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24606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79776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Sheep rumen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68190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23360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Pig gut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11774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66944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Chicken gut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55358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0528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Pooled (n=7,599)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08176" y="548259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" y="540410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08176" y="4618066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112" y="4539580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408176" y="3753542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3675056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408176" y="2889019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112" y="2810533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60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408176" y="2024495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1946009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408176" y="1159971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6112" y="1081485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48" name="TextBox 47"/>
          <p:cNvSpPr txBox="1"/>
          <p:nvPr/>
        </p:nvSpPr>
        <p:spPr>
          <a:xfrm rot="16200000">
            <a:off x="548640" y="2971800"/>
            <a:ext cx="7315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000000"/>
                </a:solidFill>
                <a:latin typeface="Arial"/>
              </a:rPr>
              <a:t>Cluster representatives (%)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463040" y="1158066"/>
            <a:ext cx="6217920" cy="11430"/>
          </a:xfrm>
          <a:prstGeom prst="rect">
            <a:avLst/>
          </a:prstGeom>
          <a:noFill/>
          <a:ln w="11430">
            <a:solidFill>
              <a:srgbClr val="CC79A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69280" y="962613"/>
            <a:ext cx="20116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900" b="1" i="0">
                <a:solidFill>
                  <a:srgbClr val="CC79A7"/>
                </a:solidFill>
                <a:latin typeface="Arial"/>
              </a:rPr>
              <a:t>This study 6/6 = 100%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52160" y="777240"/>
            <a:ext cx="164592" cy="128016"/>
          </a:xfrm>
          <a:prstGeom prst="rect">
            <a:avLst/>
          </a:prstGeom>
          <a:solidFill>
            <a:srgbClr val="0072B2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53328" y="740664"/>
            <a:ext cx="160020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% MICP
gene-complete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52160" y="1088136"/>
            <a:ext cx="164592" cy="128016"/>
          </a:xfrm>
          <a:prstGeom prst="rect">
            <a:avLst/>
          </a:prstGeom>
          <a:solidFill>
            <a:srgbClr val="56B4E9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53328" y="1051560"/>
            <a:ext cx="160020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% single-contig
ureC + CA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035040"/>
            <a:ext cx="9509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Main Figure 8d — antiSMASH 7 class-level BGC enrichment: T3PKS 23x (p=5.3e-10) + RRE 8x (p=1.9e-5) Sphingobacterium fingerprint.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4" name="Rectangle 3"/>
          <p:cNvSpPr/>
          <p:nvPr/>
        </p:nvSpPr>
        <p:spPr>
          <a:xfrm>
            <a:off x="2194560" y="701802"/>
            <a:ext cx="914" cy="176022"/>
          </a:xfrm>
          <a:prstGeom prst="rect">
            <a:avLst/>
          </a:prstGeom>
          <a:solidFill>
            <a:srgbClr val="CC79A7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94560" y="905256"/>
            <a:ext cx="1851193" cy="176022"/>
          </a:xfrm>
          <a:prstGeom prst="rect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781812"/>
            <a:ext cx="14173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NRP-metallophore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204722"/>
            <a:ext cx="674914" cy="176022"/>
          </a:xfrm>
          <a:prstGeom prst="rect">
            <a:avLst/>
          </a:prstGeom>
          <a:solidFill>
            <a:srgbClr val="CC79A7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0" y="1408175"/>
            <a:ext cx="1234128" cy="176022"/>
          </a:xfrm>
          <a:prstGeom prst="rect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1284731"/>
            <a:ext cx="14173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hydrogen-cyanide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1707642"/>
            <a:ext cx="1349828" cy="176022"/>
          </a:xfrm>
          <a:prstGeom prst="rect">
            <a:avLst/>
          </a:prstGeom>
          <a:solidFill>
            <a:srgbClr val="CC79A7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94560" y="1911096"/>
            <a:ext cx="3316721" cy="176022"/>
          </a:xfrm>
          <a:prstGeom prst="rect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19" y="1787652"/>
            <a:ext cx="14173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NRPS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2210562"/>
            <a:ext cx="1349828" cy="176022"/>
          </a:xfrm>
          <a:prstGeom prst="rect">
            <a:avLst/>
          </a:prstGeom>
          <a:solidFill>
            <a:srgbClr val="CC79A7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94560" y="2414016"/>
            <a:ext cx="578497" cy="176022"/>
          </a:xfrm>
          <a:prstGeom prst="rect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4173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NAGGN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4560" y="2713482"/>
            <a:ext cx="2024742" cy="176022"/>
          </a:xfrm>
          <a:prstGeom prst="rect">
            <a:avLst/>
          </a:prstGeom>
          <a:solidFill>
            <a:srgbClr val="CC79A7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94560" y="2916936"/>
            <a:ext cx="2352558" cy="176022"/>
          </a:xfrm>
          <a:prstGeom prst="rect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19" y="2793491"/>
            <a:ext cx="14173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terpene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0" y="3216402"/>
            <a:ext cx="2699657" cy="176022"/>
          </a:xfrm>
          <a:prstGeom prst="rect">
            <a:avLst/>
          </a:prstGeom>
          <a:solidFill>
            <a:srgbClr val="CC79A7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94560" y="3419856"/>
            <a:ext cx="3779519" cy="176022"/>
          </a:xfrm>
          <a:prstGeom prst="rect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19" y="3296412"/>
            <a:ext cx="14173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RiPP-like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94560" y="3719322"/>
            <a:ext cx="2699657" cy="176022"/>
          </a:xfrm>
          <a:prstGeom prst="rect">
            <a:avLst/>
          </a:prstGeom>
          <a:solidFill>
            <a:srgbClr val="CC79A7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94560" y="3922776"/>
            <a:ext cx="115699" cy="176022"/>
          </a:xfrm>
          <a:prstGeom prst="rect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9937" y="3799332"/>
            <a:ext cx="18288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1" i="0">
                <a:solidFill>
                  <a:srgbClr val="CC79A7"/>
                </a:solidFill>
                <a:latin typeface="Arial"/>
              </a:rPr>
              <a:t>***  p = 5.3e-10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19" y="3799332"/>
            <a:ext cx="14173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900" b="1" i="0">
                <a:solidFill>
                  <a:srgbClr val="CC79A7"/>
                </a:solidFill>
                <a:latin typeface="Arial"/>
              </a:rPr>
              <a:t>T3PKS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94560" y="4222242"/>
            <a:ext cx="3374571" cy="176022"/>
          </a:xfrm>
          <a:prstGeom prst="rect">
            <a:avLst/>
          </a:prstGeom>
          <a:solidFill>
            <a:srgbClr val="CC79A7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194560" y="4425696"/>
            <a:ext cx="424231" cy="176022"/>
          </a:xfrm>
          <a:prstGeom prst="rect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14851" y="4302252"/>
            <a:ext cx="18288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1" i="0">
                <a:solidFill>
                  <a:srgbClr val="CC79A7"/>
                </a:solidFill>
                <a:latin typeface="Arial"/>
              </a:rPr>
              <a:t>***  p = 1.9e-05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19" y="4302252"/>
            <a:ext cx="14173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900" b="1" i="0">
                <a:solidFill>
                  <a:srgbClr val="CC79A7"/>
                </a:solidFill>
                <a:latin typeface="Arial"/>
              </a:rPr>
              <a:t>RRE-containing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4725162"/>
            <a:ext cx="3374571" cy="176022"/>
          </a:xfrm>
          <a:prstGeom prst="rect">
            <a:avLst/>
          </a:prstGeom>
          <a:solidFill>
            <a:srgbClr val="CC79A7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194560" y="4928616"/>
            <a:ext cx="1851193" cy="176022"/>
          </a:xfrm>
          <a:prstGeom prst="rect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19" y="4805172"/>
            <a:ext cx="14173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betalactone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94560" y="5228082"/>
            <a:ext cx="3374571" cy="176022"/>
          </a:xfrm>
          <a:prstGeom prst="rect">
            <a:avLst/>
          </a:prstGeom>
          <a:solidFill>
            <a:srgbClr val="CC79A7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194560" y="5431536"/>
            <a:ext cx="3046755" cy="176022"/>
          </a:xfrm>
          <a:prstGeom prst="rect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19" y="5308092"/>
            <a:ext cx="14173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arylpolyene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94560" y="5664517"/>
            <a:ext cx="5669279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189797" y="640080"/>
            <a:ext cx="9525" cy="5029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190749" y="566928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45919" y="574243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00647" y="566928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55817" y="574243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10544" y="566928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65714" y="574243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20441" y="566928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75611" y="574243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30338" y="566928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85508" y="574243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40235" y="566928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95405" y="574243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0132" y="566928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05302" y="574243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1.2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60030" y="566928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0" y="574243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1.4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11679" y="6080760"/>
            <a:ext cx="603504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BGC regions per MAG (mean)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69279" y="274319"/>
            <a:ext cx="164592" cy="128016"/>
          </a:xfrm>
          <a:prstGeom prst="rect">
            <a:avLst/>
          </a:prstGeom>
          <a:solidFill>
            <a:srgbClr val="CC79A7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70447" y="256031"/>
            <a:ext cx="10972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MICP-complete mean (n=6)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66559" y="274319"/>
            <a:ext cx="164592" cy="128016"/>
          </a:xfrm>
          <a:prstGeom prst="rect">
            <a:avLst/>
          </a:prstGeom>
          <a:solidFill>
            <a:srgbClr val="6B6B6B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67727" y="256031"/>
            <a:ext cx="9144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Rest mean (n=105)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035040"/>
            <a:ext cx="9509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Supp Fig S1 — Biofilm / EPS gene modules (genus-aggregated).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S1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8229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200" b="0" i="1">
                <a:solidFill>
                  <a:srgbClr val="6B6B6B"/>
                </a:solidFill>
                <a:latin typeface="Arial"/>
              </a:rPr>
              <a:t>Data: Supplementary Table S2a/b (keyword-based module counts).  Native-shape heatmap template; cells are editable and pre-filled with published values in the supplementary table.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035040"/>
            <a:ext cx="9509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Supp Fig S2 — Ammonia-handling and N-assimilation modules.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S2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8229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200" b="0" i="1">
                <a:solidFill>
                  <a:srgbClr val="6B6B6B"/>
                </a:solidFill>
                <a:latin typeface="Arial"/>
              </a:rPr>
              <a:t>Data: Supplementary Table S2a/b.  Native-shape heatmap template; cells are editable and pre-filled with published values in the supplementary table.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035040"/>
            <a:ext cx="9509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Supp Fig S3 — Alkaline and osmotic-stress tolerance modules.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S3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8229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200" b="0" i="1">
                <a:solidFill>
                  <a:srgbClr val="6B6B6B"/>
                </a:solidFill>
                <a:latin typeface="Arial"/>
              </a:rPr>
              <a:t>Data: Supplementary Table S2a/b.  Native-shape heatmap template; cells are editable and pre-filled with published values in the supplementary table.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035040"/>
            <a:ext cx="9509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Supp Fig S4 — CAZyme profile: keyword + dbCAN classes + families.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S4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8229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200" b="0" i="1">
                <a:solidFill>
                  <a:srgbClr val="6B6B6B"/>
                </a:solidFill>
                <a:latin typeface="Arial"/>
              </a:rPr>
              <a:t>Data: Supplementary Table S6.  Native-shape heatmap template; cells are editable and pre-filled with published values in the supplementary table.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035040"/>
            <a:ext cx="9509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Supp Fig S5 — Heavy-metal and antibiotic-resistance gene modules.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S5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8229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200" b="0" i="1">
                <a:solidFill>
                  <a:srgbClr val="6B6B6B"/>
                </a:solidFill>
                <a:latin typeface="Arial"/>
              </a:rPr>
              <a:t>Data: Supplementary Table S2a/b.  Native-shape heatmap template; cells are editable and pre-filled with published values in the supplementary table.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035040"/>
            <a:ext cx="9509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Supp Fig S6 — Pairwise ANI within MICP-complete lineages.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S6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8229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200" b="0" i="1">
                <a:solidFill>
                  <a:srgbClr val="6B6B6B"/>
                </a:solidFill>
                <a:latin typeface="Arial"/>
              </a:rPr>
              <a:t>Data: Supplementary Table S4a.  Native-shape heatmap template; cells are editable and pre-filled with published values in the supplementary table.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035040"/>
            <a:ext cx="9509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Supp Fig S7 — UreC gene tree topology (n=46).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S7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8229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200" b="0" i="1">
                <a:solidFill>
                  <a:srgbClr val="6B6B6B"/>
                </a:solidFill>
                <a:latin typeface="Arial"/>
              </a:rPr>
              <a:t>Data: Supplementary Table S7 (newick + SH-AU output).  Native-shape heatmap template; cells are editable and pre-filled with published values in the supplementary table.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035040"/>
            <a:ext cx="9509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Supp Fig S8 — Biosafety hits per MAG (abricate: CARD, VFDB, ResFinder).  All 6 MICP-complete MAGs: ResFinder = 0.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S8</a:t>
            </a:r>
          </a:p>
        </p:txBody>
      </p:sp>
      <p:sp>
        <p:nvSpPr>
          <p:cNvPr id="4" name="Rectangle 3"/>
          <p:cNvSpPr/>
          <p:nvPr/>
        </p:nvSpPr>
        <p:spPr>
          <a:xfrm>
            <a:off x="1216152" y="4801985"/>
            <a:ext cx="402336" cy="318654"/>
          </a:xfrm>
          <a:prstGeom prst="rect">
            <a:avLst/>
          </a:prstGeom>
          <a:solidFill>
            <a:srgbClr val="CC79A7"/>
          </a:solidFill>
          <a:ln w="76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6152" y="5113655"/>
            <a:ext cx="402335" cy="1397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80744" y="5117465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80744" y="4798810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98350" y="5095036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84261" y="2227145"/>
            <a:ext cx="51206" cy="51206"/>
          </a:xfrm>
          <a:prstGeom prst="ellipse">
            <a:avLst/>
          </a:prstGeom>
          <a:solidFill>
            <a:srgbClr val="D55E00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30672" y="5095036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8235" y="5095036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72015" y="5095036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53340" y="4776382"/>
            <a:ext cx="51206" cy="51206"/>
          </a:xfrm>
          <a:prstGeom prst="ellipse">
            <a:avLst/>
          </a:prstGeom>
          <a:solidFill>
            <a:srgbClr val="D55E00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193792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MICP-complete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21992" y="3846021"/>
            <a:ext cx="402336" cy="1274618"/>
          </a:xfrm>
          <a:prstGeom prst="rect">
            <a:avLst/>
          </a:prstGeom>
          <a:solidFill>
            <a:srgbClr val="6B6B6B"/>
          </a:solidFill>
          <a:ln w="76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21992" y="4476345"/>
            <a:ext cx="402335" cy="1397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19985" y="1934094"/>
            <a:ext cx="6350" cy="191192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86584" y="5117465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6584" y="1930919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301377" y="413907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46268" y="350176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347634" y="477638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306409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394393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395756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391453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384983" y="222714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326503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323265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455457" y="445772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44580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450309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484212" y="445772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507981" y="445772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531543" y="413907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317459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318315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468415" y="445772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420352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307595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451149" y="477638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510185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498881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311888" y="127118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336889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248691" y="477638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541094" y="477638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313199" y="445772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466085" y="318310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408992" y="445772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425759" y="445772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405624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495785" y="318310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427710" y="286445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338168" y="445772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281331" y="318310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390738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525183" y="413907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290495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453059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437120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295039" y="286445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309094" y="350176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453756" y="350176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378542" y="318310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369496" y="382041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391624" y="477638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277224" y="445772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459295" y="15898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2424225" y="350176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2407880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349166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491578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2495314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411094" y="286445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2273441" y="477638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291313" y="413907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2292604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270471" y="477638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442309" y="445772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2410677" y="413907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2308197" y="190849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2521382" y="413907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2436720" y="350176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2485717" y="318310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2493526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2452333" y="477638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2405636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2543826" y="445772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2286783" y="445772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2454670" y="222714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2513501" y="382041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2391035" y="477638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2493270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2301405" y="477638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2372281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2328420" y="286445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2366461" y="477638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2458473" y="477638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2289991" y="477638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2348813" y="477638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2501982" y="477638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2337632" y="413907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2284718" y="254580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2546730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2409978" y="445772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2252150" y="445772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2419070" y="382041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2290746" y="190849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2295804" y="318310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469604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2443479" y="477638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2375344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2401907" y="477638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2415257" y="15898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2385162" y="382041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2277220" y="15898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2478627" y="445772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479133" y="318310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2374019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2368563" y="445772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2430885" y="445772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2389103" y="477638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2372005" y="382041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91640" y="5193792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Rest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914400" y="5115877"/>
            <a:ext cx="201168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909637" y="914400"/>
            <a:ext cx="9525" cy="4206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413510" y="512064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68680" y="519379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MICP-complete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2419350" y="512064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874520" y="519379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Rest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59536" y="511683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347471" y="503834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59536" y="3204902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347471" y="3126416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59536" y="1292975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47471" y="1214489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31520" y="5532120"/>
            <a:ext cx="237744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CARD</a:t>
            </a:r>
          </a:p>
        </p:txBody>
      </p:sp>
      <p:sp>
        <p:nvSpPr>
          <p:cNvPr id="139" name="TextBox 138"/>
          <p:cNvSpPr txBox="1"/>
          <p:nvPr/>
        </p:nvSpPr>
        <p:spPr>
          <a:xfrm rot="16200000">
            <a:off x="0" y="2880360"/>
            <a:ext cx="7315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000000"/>
                </a:solidFill>
                <a:latin typeface="Arial"/>
              </a:rPr>
              <a:t>CARD hits per MAG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3685032" y="4164676"/>
            <a:ext cx="402336" cy="955963"/>
          </a:xfrm>
          <a:prstGeom prst="rect">
            <a:avLst/>
          </a:prstGeom>
          <a:solidFill>
            <a:srgbClr val="CC79A7"/>
          </a:solidFill>
          <a:ln w="76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3685032" y="5113655"/>
            <a:ext cx="402336" cy="1397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3883025" y="3026624"/>
            <a:ext cx="6350" cy="113805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3849624" y="5117465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3849624" y="3023449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3867230" y="5095036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3953141" y="3001021"/>
            <a:ext cx="51206" cy="51206"/>
          </a:xfrm>
          <a:prstGeom prst="ellipse">
            <a:avLst/>
          </a:prstGeom>
          <a:solidFill>
            <a:srgbClr val="D55E00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3999552" y="5095036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3797115" y="5095036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3940895" y="5095036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3922220" y="4139073"/>
            <a:ext cx="51206" cy="51206"/>
          </a:xfrm>
          <a:prstGeom prst="ellipse">
            <a:avLst/>
          </a:prstGeom>
          <a:solidFill>
            <a:srgbClr val="D55E00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3154680" y="5193792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MICP-complete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4690872" y="4415047"/>
            <a:ext cx="402336" cy="705592"/>
          </a:xfrm>
          <a:prstGeom prst="rect">
            <a:avLst/>
          </a:prstGeom>
          <a:solidFill>
            <a:srgbClr val="6B6B6B"/>
          </a:solidFill>
          <a:ln w="76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4690872" y="4977088"/>
            <a:ext cx="402336" cy="1397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4888865" y="3390801"/>
            <a:ext cx="6350" cy="102424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4855464" y="5117465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4855464" y="3387626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4770257" y="436668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4915148" y="336519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4816514" y="504951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4775289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4863273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4864636" y="495847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4860333" y="495847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4853863" y="131670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4795383" y="46398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4792145" y="500399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4924337" y="436668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4813460" y="468533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4919189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4953092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4976861" y="477638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5000423" y="46398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4786339" y="504951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4787195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4937295" y="500399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4889232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4776475" y="486742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4920029" y="500399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4979065" y="504951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4967761" y="504951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4780768" y="127118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4805769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4717571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5009974" y="432116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4782079" y="500399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4934965" y="504951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4877872" y="504951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4894639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4874504" y="468533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4964665" y="454877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4896590" y="281893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4807048" y="441220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4750211" y="336519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4859618" y="500399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4994063" y="504951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4759375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4921939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4906000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4763919" y="382041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4777974" y="368385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4922636" y="482190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4847422" y="318310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4838376" y="500399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4860504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4746104" y="482190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4928175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4893105" y="377489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4876760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4818046" y="491294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4960458" y="486742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4964194" y="500399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4879974" y="345624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4742321" y="482190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4760193" y="386594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4761484" y="495847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4739351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4911189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4879557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4777077" y="286445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4990262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4905600" y="495847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4954597" y="318310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4962406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4921213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4874516" y="495847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5012706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4755663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4923550" y="331967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4982381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4859915" y="468533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4962150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4770285" y="504951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4841161" y="482190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4797300" y="354728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4835341" y="486742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927353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4758871" y="46398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4817693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4970862" y="432116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4806512" y="354728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4753598" y="309206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5015610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4878858" y="504951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4721030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4887950" y="331967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4759626" y="240923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4764684" y="504951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4938484" y="486742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4912359" y="486742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4844224" y="477638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4870787" y="482190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4884137" y="227266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4854042" y="504951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4746100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4947507" y="482190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4948013" y="341071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4842899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4837443" y="500399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4899765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4857983" y="491294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4840885" y="345624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4160520" y="5193792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Rest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3383280" y="5115877"/>
            <a:ext cx="201168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3378517" y="914400"/>
            <a:ext cx="9525" cy="4206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3882390" y="512064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3337560" y="519379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MICP-complete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4888230" y="512064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4343400" y="519379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Rest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3328416" y="511683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2816352" y="503834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3328416" y="3204902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2816352" y="3126416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42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3328416" y="1292975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2816352" y="1214489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84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3200400" y="5532120"/>
            <a:ext cx="237744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VFDB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6153912" y="5120640"/>
            <a:ext cx="402336" cy="0"/>
          </a:xfrm>
          <a:prstGeom prst="rect">
            <a:avLst/>
          </a:prstGeom>
          <a:solidFill>
            <a:srgbClr val="CC79A7"/>
          </a:solidFill>
          <a:ln w="76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6153912" y="5113655"/>
            <a:ext cx="402336" cy="1397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6318504" y="5117465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6318504" y="5117465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6336110" y="5095036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6422021" y="5095036"/>
            <a:ext cx="51206" cy="51206"/>
          </a:xfrm>
          <a:prstGeom prst="ellipse">
            <a:avLst/>
          </a:prstGeom>
          <a:solidFill>
            <a:srgbClr val="D55E00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6468432" y="5095036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6265995" y="5095036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6409775" y="5095036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6391100" y="5095036"/>
            <a:ext cx="51206" cy="51206"/>
          </a:xfrm>
          <a:prstGeom prst="ellipse">
            <a:avLst/>
          </a:prstGeom>
          <a:solidFill>
            <a:srgbClr val="D55E00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5623560" y="5193792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MICP-complete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7159752" y="5120640"/>
            <a:ext cx="402336" cy="0"/>
          </a:xfrm>
          <a:prstGeom prst="rect">
            <a:avLst/>
          </a:prstGeom>
          <a:solidFill>
            <a:srgbClr val="6B6B6B"/>
          </a:solidFill>
          <a:ln w="76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7159752" y="5113655"/>
            <a:ext cx="402336" cy="1397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7324344" y="5117465"/>
            <a:ext cx="73151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7324344" y="5117465"/>
            <a:ext cx="73151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7239137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7384028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7285394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7244169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7332153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7333516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7329213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7322743" y="382041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7264263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7261025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7393217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7282340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7388069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7421972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7445741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7469303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7255219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7256075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7406175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7358112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7245355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7388909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7447945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7436641" y="382041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7249648" y="254580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7274649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7186451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7478854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7250959" y="254580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7403845" y="254580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7346752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7363519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7343384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7433545" y="254580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7365470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7275928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7219091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7328498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7462943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7228255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7390819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7374880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7232799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7246854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7391516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7316302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7307256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7329384" y="382041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7214984" y="254580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7397055" y="254580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7361985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7345640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7286926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7429338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7433074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7348854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7211201" y="382041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7229073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7230364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7208231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7380069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7348437" y="382041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7245957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7459142" y="254580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7374480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7423477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7431286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7390093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7343396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7481586" y="382041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7224543" y="382041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7392430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7451261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7328795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7431030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7239165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7310041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7266180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7304221" y="382041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7396233" y="382041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7227751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7286573" y="382041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7439742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7275392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7222478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7484490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7347738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7189910" y="382041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7356830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7228506" y="254580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7233564" y="254580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7407364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7381239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7313104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7339667" y="382041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7353017" y="127118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7322922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7214980" y="382041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7416387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7416893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7311779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7306323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7368645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7326863" y="382041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7309765" y="50950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TextBox 395"/>
          <p:cNvSpPr txBox="1"/>
          <p:nvPr/>
        </p:nvSpPr>
        <p:spPr>
          <a:xfrm>
            <a:off x="6629400" y="5193792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Rest</a:t>
            </a:r>
          </a:p>
        </p:txBody>
      </p:sp>
      <p:sp>
        <p:nvSpPr>
          <p:cNvPr id="397" name="Rectangle 396"/>
          <p:cNvSpPr/>
          <p:nvPr/>
        </p:nvSpPr>
        <p:spPr>
          <a:xfrm>
            <a:off x="5852160" y="5115877"/>
            <a:ext cx="201168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5847397" y="914400"/>
            <a:ext cx="9525" cy="4206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6351270" y="512064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TextBox 399"/>
          <p:cNvSpPr txBox="1"/>
          <p:nvPr/>
        </p:nvSpPr>
        <p:spPr>
          <a:xfrm>
            <a:off x="5806440" y="519379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MICP-complete</a:t>
            </a:r>
          </a:p>
        </p:txBody>
      </p:sp>
      <p:sp>
        <p:nvSpPr>
          <p:cNvPr id="401" name="Rectangle 400"/>
          <p:cNvSpPr/>
          <p:nvPr/>
        </p:nvSpPr>
        <p:spPr>
          <a:xfrm>
            <a:off x="7357110" y="512064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TextBox 401"/>
          <p:cNvSpPr txBox="1"/>
          <p:nvPr/>
        </p:nvSpPr>
        <p:spPr>
          <a:xfrm>
            <a:off x="6812280" y="519379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Rest</a:t>
            </a:r>
          </a:p>
        </p:txBody>
      </p:sp>
      <p:sp>
        <p:nvSpPr>
          <p:cNvPr id="403" name="Rectangle 402"/>
          <p:cNvSpPr/>
          <p:nvPr/>
        </p:nvSpPr>
        <p:spPr>
          <a:xfrm>
            <a:off x="5797296" y="5116830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TextBox 403"/>
          <p:cNvSpPr txBox="1"/>
          <p:nvPr/>
        </p:nvSpPr>
        <p:spPr>
          <a:xfrm>
            <a:off x="5285232" y="503834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405" name="Rectangle 404"/>
          <p:cNvSpPr/>
          <p:nvPr/>
        </p:nvSpPr>
        <p:spPr>
          <a:xfrm>
            <a:off x="5797296" y="3842211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TextBox 405"/>
          <p:cNvSpPr txBox="1"/>
          <p:nvPr/>
        </p:nvSpPr>
        <p:spPr>
          <a:xfrm>
            <a:off x="5285232" y="3763725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407" name="Rectangle 406"/>
          <p:cNvSpPr/>
          <p:nvPr/>
        </p:nvSpPr>
        <p:spPr>
          <a:xfrm>
            <a:off x="5797296" y="1292975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TextBox 407"/>
          <p:cNvSpPr txBox="1"/>
          <p:nvPr/>
        </p:nvSpPr>
        <p:spPr>
          <a:xfrm>
            <a:off x="5285232" y="1214489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5669280" y="5532120"/>
            <a:ext cx="237744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RESFINDER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035040"/>
            <a:ext cx="9509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Supp Fig S9 — UreC active-site residue conservation (extended of Fig 8a).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S9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1280160"/>
            <a:ext cx="914400" cy="59436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29968" y="1467612"/>
            <a:ext cx="877824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280160"/>
            <a:ext cx="914400" cy="59436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44368" y="1467612"/>
            <a:ext cx="877824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1280160"/>
            <a:ext cx="914400" cy="59436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58768" y="1467612"/>
            <a:ext cx="877824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280160"/>
            <a:ext cx="914400" cy="59436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3168" y="1467612"/>
            <a:ext cx="877824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1280160"/>
            <a:ext cx="914400" cy="59436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87568" y="1467612"/>
            <a:ext cx="877824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1280160"/>
            <a:ext cx="914400" cy="59436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1467612"/>
            <a:ext cx="877824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1280160"/>
            <a:ext cx="914400" cy="59436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16367" y="1467612"/>
            <a:ext cx="877824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1874519"/>
            <a:ext cx="914400" cy="59436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29968" y="2061972"/>
            <a:ext cx="877824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1874519"/>
            <a:ext cx="914400" cy="59436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44368" y="2061972"/>
            <a:ext cx="877824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1874519"/>
            <a:ext cx="914400" cy="59436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58768" y="2061972"/>
            <a:ext cx="877824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1874519"/>
            <a:ext cx="914400" cy="59436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73168" y="2061972"/>
            <a:ext cx="877824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1874519"/>
            <a:ext cx="914400" cy="59436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061972"/>
            <a:ext cx="877824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1874519"/>
            <a:ext cx="914400" cy="59436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01968" y="2061972"/>
            <a:ext cx="877824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79" y="1874519"/>
            <a:ext cx="914400" cy="59436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16367" y="2061972"/>
            <a:ext cx="877824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11680" y="2468880"/>
            <a:ext cx="914400" cy="59436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29968" y="2656332"/>
            <a:ext cx="877824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26080" y="2468880"/>
            <a:ext cx="914400" cy="59436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44368" y="2656332"/>
            <a:ext cx="877824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0" y="2468880"/>
            <a:ext cx="914400" cy="59436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58768" y="2656332"/>
            <a:ext cx="877824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54880" y="2468880"/>
            <a:ext cx="914400" cy="59436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73168" y="2656332"/>
            <a:ext cx="877824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0" y="2468880"/>
            <a:ext cx="914400" cy="59436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87568" y="2656332"/>
            <a:ext cx="877824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0" y="2468880"/>
            <a:ext cx="914400" cy="59436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01968" y="2656332"/>
            <a:ext cx="877824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79" y="2468880"/>
            <a:ext cx="914400" cy="59436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16367" y="2656332"/>
            <a:ext cx="877824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11680" y="3063240"/>
            <a:ext cx="914400" cy="59436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9968" y="3250692"/>
            <a:ext cx="877824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26080" y="3063240"/>
            <a:ext cx="914400" cy="59436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44368" y="3250692"/>
            <a:ext cx="877824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40480" y="3063240"/>
            <a:ext cx="914400" cy="59436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58768" y="3250692"/>
            <a:ext cx="877824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54880" y="3063240"/>
            <a:ext cx="914400" cy="59436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73168" y="3250692"/>
            <a:ext cx="877824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0" y="3063240"/>
            <a:ext cx="914400" cy="59436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87568" y="3250692"/>
            <a:ext cx="877824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0" y="3063240"/>
            <a:ext cx="914400" cy="59436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01968" y="3250692"/>
            <a:ext cx="877824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98079" y="3063240"/>
            <a:ext cx="914400" cy="59436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16367" y="3250692"/>
            <a:ext cx="877824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11680" y="3657600"/>
            <a:ext cx="914400" cy="59436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29968" y="3845052"/>
            <a:ext cx="877824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926080" y="3657600"/>
            <a:ext cx="914400" cy="59436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944368" y="3845052"/>
            <a:ext cx="877824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40480" y="3657600"/>
            <a:ext cx="914400" cy="59436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858768" y="3845052"/>
            <a:ext cx="877824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K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754880" y="3657600"/>
            <a:ext cx="914400" cy="59436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73168" y="3845052"/>
            <a:ext cx="877824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669280" y="3657600"/>
            <a:ext cx="914400" cy="59436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687568" y="3845052"/>
            <a:ext cx="877824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583680" y="3657600"/>
            <a:ext cx="914400" cy="59436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601968" y="3845052"/>
            <a:ext cx="877824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498079" y="3657600"/>
            <a:ext cx="914400" cy="59436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516367" y="3845052"/>
            <a:ext cx="877824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011680" y="4251960"/>
            <a:ext cx="914400" cy="59436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029968" y="4439412"/>
            <a:ext cx="877824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926080" y="4251960"/>
            <a:ext cx="914400" cy="59436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944368" y="4439412"/>
            <a:ext cx="877824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840480" y="4251960"/>
            <a:ext cx="914400" cy="59436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858768" y="4439412"/>
            <a:ext cx="877824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K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754880" y="4251960"/>
            <a:ext cx="914400" cy="59436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773168" y="4439412"/>
            <a:ext cx="877824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669280" y="4251960"/>
            <a:ext cx="914400" cy="59436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687568" y="4439412"/>
            <a:ext cx="877824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583680" y="4251960"/>
            <a:ext cx="914400" cy="59436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601968" y="4439412"/>
            <a:ext cx="877824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498079" y="4251960"/>
            <a:ext cx="914400" cy="594360"/>
          </a:xfrm>
          <a:prstGeom prst="rect">
            <a:avLst/>
          </a:prstGeom>
          <a:solidFill>
            <a:srgbClr val="009E7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516367" y="4439412"/>
            <a:ext cx="877824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97280" y="1467612"/>
            <a:ext cx="8686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0072B2"/>
                </a:solidFill>
                <a:latin typeface="Arial"/>
              </a:rPr>
              <a:t>S13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97280" y="2061972"/>
            <a:ext cx="8686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0072B2"/>
                </a:solidFill>
                <a:latin typeface="Arial"/>
              </a:rPr>
              <a:t>S16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97280" y="2656332"/>
            <a:ext cx="8686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0072B2"/>
                </a:solidFill>
                <a:latin typeface="Arial"/>
              </a:rPr>
              <a:t>S23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97280" y="3250692"/>
            <a:ext cx="8686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0072B2"/>
                </a:solidFill>
                <a:latin typeface="Arial"/>
              </a:rPr>
              <a:t>C22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97280" y="3845052"/>
            <a:ext cx="8686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D55E00"/>
                </a:solidFill>
                <a:latin typeface="Arial"/>
              </a:rPr>
              <a:t>M1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97280" y="4439412"/>
            <a:ext cx="8686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D55E00"/>
                </a:solidFill>
                <a:latin typeface="Arial"/>
              </a:rPr>
              <a:t>S26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828800" y="868680"/>
            <a:ext cx="128016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H137
(H)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743200" y="868680"/>
            <a:ext cx="128016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H139
(H)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657600" y="868680"/>
            <a:ext cx="128016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K220
(K)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72000" y="868680"/>
            <a:ext cx="128016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H249
(H)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486400" y="868680"/>
            <a:ext cx="128016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H275
(H)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400800" y="868680"/>
            <a:ext cx="128016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D363
(D)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315199" y="868680"/>
            <a:ext cx="128016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C322
(C)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828800" y="685800"/>
            <a:ext cx="12801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1">
                <a:solidFill>
                  <a:srgbClr val="6B6B6B"/>
                </a:solidFill>
                <a:latin typeface="Arial"/>
              </a:rPr>
              <a:t>distal Ni²⁺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743200" y="685800"/>
            <a:ext cx="12801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1">
                <a:solidFill>
                  <a:srgbClr val="6B6B6B"/>
                </a:solidFill>
                <a:latin typeface="Arial"/>
              </a:rPr>
              <a:t>distal Ni²⁺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657600" y="685800"/>
            <a:ext cx="12801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1">
                <a:solidFill>
                  <a:srgbClr val="6B6B6B"/>
                </a:solidFill>
                <a:latin typeface="Arial"/>
              </a:rPr>
              <a:t>carbamate-Lys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572000" y="685800"/>
            <a:ext cx="12801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1">
                <a:solidFill>
                  <a:srgbClr val="6B6B6B"/>
                </a:solidFill>
                <a:latin typeface="Arial"/>
              </a:rPr>
              <a:t>proximal Ni²⁺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486400" y="685800"/>
            <a:ext cx="12801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1">
                <a:solidFill>
                  <a:srgbClr val="6B6B6B"/>
                </a:solidFill>
                <a:latin typeface="Arial"/>
              </a:rPr>
              <a:t>proximal Ni²⁺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400800" y="685800"/>
            <a:ext cx="12801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1">
                <a:solidFill>
                  <a:srgbClr val="6B6B6B"/>
                </a:solidFill>
                <a:latin typeface="Arial"/>
              </a:rPr>
              <a:t>flap-Cys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315199" y="685800"/>
            <a:ext cx="12801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1">
                <a:solidFill>
                  <a:srgbClr val="6B6B6B"/>
                </a:solidFill>
                <a:latin typeface="Arial"/>
              </a:rPr>
              <a:t>general acid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035040"/>
            <a:ext cx="9509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Supp Fig S10 — Within-genus Pseudomonas_E MICP feature prevalence (n = 146 references).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S10</a:t>
            </a:r>
          </a:p>
        </p:txBody>
      </p:sp>
      <p:sp>
        <p:nvSpPr>
          <p:cNvPr id="4" name="Rectangle 3"/>
          <p:cNvSpPr/>
          <p:nvPr/>
        </p:nvSpPr>
        <p:spPr>
          <a:xfrm>
            <a:off x="1554480" y="1586250"/>
            <a:ext cx="822959" cy="3900149"/>
          </a:xfrm>
          <a:prstGeom prst="rect">
            <a:avLst/>
          </a:prstGeom>
          <a:solidFill>
            <a:srgbClr val="D55E00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357650"/>
            <a:ext cx="1188719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93.8%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586250"/>
            <a:ext cx="822959" cy="3900149"/>
          </a:xfrm>
          <a:prstGeom prst="rect">
            <a:avLst/>
          </a:prstGeom>
          <a:solidFill>
            <a:srgbClr val="D55E00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1357650"/>
            <a:ext cx="1188719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93.8%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330036"/>
            <a:ext cx="822959" cy="4156363"/>
          </a:xfrm>
          <a:prstGeom prst="rect">
            <a:avLst/>
          </a:prstGeom>
          <a:solidFill>
            <a:srgbClr val="D55E00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101436"/>
            <a:ext cx="1188719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100.0%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586250"/>
            <a:ext cx="822959" cy="3900149"/>
          </a:xfrm>
          <a:prstGeom prst="rect">
            <a:avLst/>
          </a:prstGeom>
          <a:solidFill>
            <a:srgbClr val="CC79A7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1357650"/>
            <a:ext cx="1188719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93.8%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3977583"/>
            <a:ext cx="822959" cy="1508816"/>
          </a:xfrm>
          <a:prstGeom prst="rect">
            <a:avLst/>
          </a:prstGeom>
          <a:solidFill>
            <a:srgbClr val="CC79A7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3748983"/>
            <a:ext cx="1188719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36.3%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5481637"/>
            <a:ext cx="685800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75397" y="914400"/>
            <a:ext cx="9525" cy="4572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62149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19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UreC α present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3749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88920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UreB β/γ present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5350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0520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Any CA present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76950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0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UreC + UreB
single contig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48550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03720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UreC + CA
single contig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25295" y="548259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1" y="540410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25295" y="4651317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1" y="4572831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25295" y="3820044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1" y="3741558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25295" y="2988771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1" y="2910285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60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25295" y="2157499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1" y="2079013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25295" y="1326226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1" y="1247740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38" name="TextBox 37"/>
          <p:cNvSpPr txBox="1"/>
          <p:nvPr/>
        </p:nvSpPr>
        <p:spPr>
          <a:xfrm rot="16200000">
            <a:off x="365759" y="3063240"/>
            <a:ext cx="7315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000000"/>
                </a:solidFill>
                <a:latin typeface="Arial"/>
              </a:rPr>
              <a:t>Prevalence across 146 reference genomes (%)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035040"/>
            <a:ext cx="9509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Supp Fig S11 — Per-MAG alkaliphile signature: Mrp 11.7x (p = 5.3e-4), Nha n.s., proteome pI n.s.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S11</a:t>
            </a:r>
          </a:p>
        </p:txBody>
      </p:sp>
      <p:sp>
        <p:nvSpPr>
          <p:cNvPr id="4" name="Rectangle 3"/>
          <p:cNvSpPr/>
          <p:nvPr/>
        </p:nvSpPr>
        <p:spPr>
          <a:xfrm>
            <a:off x="1193292" y="3840480"/>
            <a:ext cx="493776" cy="1463039"/>
          </a:xfrm>
          <a:prstGeom prst="rect">
            <a:avLst/>
          </a:prstGeom>
          <a:solidFill>
            <a:srgbClr val="CC79A7"/>
          </a:solidFill>
          <a:ln w="76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3292" y="5296535"/>
            <a:ext cx="493776" cy="1397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3604" y="5300345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03604" y="3837305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22718" y="5277916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28154" y="5277916"/>
            <a:ext cx="51206" cy="51206"/>
          </a:xfrm>
          <a:prstGeom prst="ellipse">
            <a:avLst/>
          </a:prstGeom>
          <a:solidFill>
            <a:srgbClr val="D55E00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85112" y="3814876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36668" y="3814876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13124" y="5277916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90205" y="5277916"/>
            <a:ext cx="51206" cy="51206"/>
          </a:xfrm>
          <a:prstGeom prst="ellipse">
            <a:avLst/>
          </a:prstGeom>
          <a:solidFill>
            <a:srgbClr val="D55E00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" y="5376672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MICP-
complete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" y="5577840"/>
            <a:ext cx="14630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6B6B6B"/>
                </a:solidFill>
                <a:latin typeface="Arial"/>
              </a:rPr>
              <a:t>n = 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27732" y="5303520"/>
            <a:ext cx="493776" cy="0"/>
          </a:xfrm>
          <a:prstGeom prst="rect">
            <a:avLst/>
          </a:prstGeom>
          <a:solidFill>
            <a:srgbClr val="6B6B6B"/>
          </a:solidFill>
          <a:ln w="76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27732" y="5296535"/>
            <a:ext cx="493776" cy="1397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38044" y="5300345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38044" y="5300345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30978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70879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87748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537154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645133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646807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41525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633585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61814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557841" y="381487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20076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84000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13758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55366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784538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813454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550715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551766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735980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676992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53860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71478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787243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77336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543878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574561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466318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825176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545486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733120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663051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683628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658917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769570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686024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576131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506376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64064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80564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517623" y="381487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717133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697571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523200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54044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71798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625681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61457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641736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501336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724786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2681746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2661686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589628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764407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2768991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665630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2496693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518627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2520211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493048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703940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266511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2539348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2800985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2697080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2757214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2766798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2716242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2658933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282852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2513067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2719111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2791313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2641013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2766483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2531013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2617997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2564167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2610854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2723777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2517004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2589195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2777176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2575473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2510533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2832093" y="381487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2664261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2470563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267541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2517931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252413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73743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2705376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2621756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2654356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2670740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2633805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2501331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2748513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749133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2620130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2613433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268991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2638641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2617658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943100" y="5376672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Rest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943100" y="5577840"/>
            <a:ext cx="14630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6B6B6B"/>
                </a:solidFill>
                <a:latin typeface="Arial"/>
              </a:rPr>
              <a:t>n = 105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22960" y="5298757"/>
            <a:ext cx="246888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818197" y="914400"/>
            <a:ext cx="9525" cy="43891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436370" y="530352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91540" y="537667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MICP-
complete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670810" y="530352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2125980" y="537667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Rest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68096" y="5299710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56032" y="522122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68096" y="3836670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56032" y="375818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68096" y="2373630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56032" y="229514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68096" y="910590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56032" y="83210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141" name="TextBox 140"/>
          <p:cNvSpPr txBox="1"/>
          <p:nvPr/>
        </p:nvSpPr>
        <p:spPr>
          <a:xfrm rot="16200000">
            <a:off x="-91439" y="2971800"/>
            <a:ext cx="7315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000000"/>
                </a:solidFill>
                <a:latin typeface="Arial"/>
              </a:rPr>
              <a:t>Mrp antiporter copies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210812" y="3657600"/>
            <a:ext cx="493776" cy="0"/>
          </a:xfrm>
          <a:prstGeom prst="rect">
            <a:avLst/>
          </a:prstGeom>
          <a:solidFill>
            <a:srgbClr val="CC79A7"/>
          </a:solidFill>
          <a:ln w="76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4210812" y="3650615"/>
            <a:ext cx="493776" cy="1397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4421124" y="3654425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4421124" y="3654425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4440238" y="5277916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4545674" y="3631996"/>
            <a:ext cx="51206" cy="51206"/>
          </a:xfrm>
          <a:prstGeom prst="ellipse">
            <a:avLst/>
          </a:prstGeom>
          <a:solidFill>
            <a:srgbClr val="D55E00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4602632" y="3631996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4354188" y="3631996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4530644" y="3631996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4507725" y="3631996"/>
            <a:ext cx="51206" cy="51206"/>
          </a:xfrm>
          <a:prstGeom prst="ellipse">
            <a:avLst/>
          </a:prstGeom>
          <a:solidFill>
            <a:srgbClr val="D55E00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3726180" y="5376672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MICP-
complete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726180" y="5577840"/>
            <a:ext cx="14630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6B6B6B"/>
                </a:solidFill>
                <a:latin typeface="Arial"/>
              </a:rPr>
              <a:t>n = 6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445252" y="3108960"/>
            <a:ext cx="493776" cy="1645920"/>
          </a:xfrm>
          <a:prstGeom prst="rect">
            <a:avLst/>
          </a:prstGeom>
          <a:solidFill>
            <a:srgbClr val="6B6B6B"/>
          </a:solidFill>
          <a:ln w="76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5445252" y="4199255"/>
            <a:ext cx="493776" cy="1397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5688965" y="4754880"/>
            <a:ext cx="6350" cy="54863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5688965" y="2011680"/>
            <a:ext cx="6350" cy="109727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5655564" y="5300345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5655564" y="2008505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5548498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5726319" y="472927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5605268" y="41806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5554674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5662653" y="472927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5664327" y="41806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5659045" y="41806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5651105" y="472927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5579334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5575361" y="472927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5737596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5601520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5731278" y="41806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5772886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5802058" y="41806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5830974" y="198607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5568235" y="41806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5569286" y="363199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5753500" y="41806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5694512" y="41806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555612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573230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5804763" y="308335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579088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5561398" y="472927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5592081" y="363199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5483838" y="25347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5842696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5563006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5750640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5680571" y="363199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5701148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5676437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5787090" y="363199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5703544" y="25347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5593651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5523896" y="308335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5658169" y="472927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5823169" y="472927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5535143" y="41806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5734653" y="41806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5715091" y="472927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5540720" y="308335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5557969" y="308335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5735509" y="363199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5643201" y="308335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5632099" y="41806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5659256" y="363199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5518856" y="363199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5742306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5699266" y="308335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5679206" y="308335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5607148" y="41806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5781927" y="25347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5786511" y="472927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5683150" y="308335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5514213" y="363199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5536147" y="363199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5537731" y="41806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5510568" y="472927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5721460" y="472927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568263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5556868" y="363199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5818505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5714600" y="41806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5774734" y="25347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5784318" y="308335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5733762" y="472927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5676453" y="41806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5846049" y="41806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5530587" y="41806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5736631" y="472927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5808833" y="41806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5658533" y="41806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5784003" y="25347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5548533" y="41806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5635517" y="308335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5581687" y="308335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5628374" y="363199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5741297" y="363199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5534524" y="198607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5606715" y="472927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5794696" y="472927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5592993" y="308335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5528053" y="308335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5849613" y="41806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5681781" y="472927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5488083" y="363199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5692939" y="308335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5535451" y="25347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554165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5754959" y="308335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5722896" y="363199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5639276" y="41806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5671876" y="41806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5688260" y="25347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5651325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5518851" y="472927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5766033" y="41806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5766653" y="308335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5637650" y="308335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5630953" y="472927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570743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5656161" y="363199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5635178" y="308335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4960620" y="5376672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Rest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4960620" y="5577840"/>
            <a:ext cx="14630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6B6B6B"/>
                </a:solidFill>
                <a:latin typeface="Arial"/>
              </a:rPr>
              <a:t>n = 105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3840480" y="5298757"/>
            <a:ext cx="246888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3835717" y="914400"/>
            <a:ext cx="9525" cy="43891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4453890" y="530352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3909060" y="537667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MICP-
complete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5688330" y="530352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5143500" y="537667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Rest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3785616" y="5299710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3273552" y="522122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3785616" y="4202430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3273552" y="412394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3785616" y="3105149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3273552" y="302666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3785616" y="2007870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3273552" y="192938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3785616" y="910590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3273552" y="83210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283" name="TextBox 282"/>
          <p:cNvSpPr txBox="1"/>
          <p:nvPr/>
        </p:nvSpPr>
        <p:spPr>
          <a:xfrm rot="16200000">
            <a:off x="2926080" y="2971800"/>
            <a:ext cx="7315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000000"/>
                </a:solidFill>
                <a:latin typeface="Arial"/>
              </a:rPr>
              <a:t>Nha antiporter copies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7228332" y="3573442"/>
            <a:ext cx="493776" cy="727114"/>
          </a:xfrm>
          <a:prstGeom prst="rect">
            <a:avLst/>
          </a:prstGeom>
          <a:solidFill>
            <a:srgbClr val="CC79A7"/>
          </a:solidFill>
          <a:ln w="76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7228332" y="3604652"/>
            <a:ext cx="493775" cy="1397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7472045" y="4300557"/>
            <a:ext cx="6350" cy="13321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7472045" y="3559996"/>
            <a:ext cx="6350" cy="1344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7438644" y="4430600"/>
            <a:ext cx="73151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7438644" y="3556821"/>
            <a:ext cx="73151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7457758" y="3534392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7563194" y="4408172"/>
            <a:ext cx="51206" cy="51206"/>
          </a:xfrm>
          <a:prstGeom prst="ellipse">
            <a:avLst/>
          </a:prstGeom>
          <a:solidFill>
            <a:srgbClr val="D55E00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7620152" y="3567173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7371708" y="3547839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7548164" y="3604893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7525245" y="4274953"/>
            <a:ext cx="51206" cy="51206"/>
          </a:xfrm>
          <a:prstGeom prst="ellipse">
            <a:avLst/>
          </a:prstGeom>
          <a:solidFill>
            <a:srgbClr val="D55E00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TextBox 295"/>
          <p:cNvSpPr txBox="1"/>
          <p:nvPr/>
        </p:nvSpPr>
        <p:spPr>
          <a:xfrm>
            <a:off x="6743700" y="5376672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MICP-
complete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6743700" y="5577840"/>
            <a:ext cx="14630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6B6B6B"/>
                </a:solidFill>
                <a:latin typeface="Arial"/>
              </a:rPr>
              <a:t>n = 6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8462772" y="3866997"/>
            <a:ext cx="493776" cy="417468"/>
          </a:xfrm>
          <a:prstGeom prst="rect">
            <a:avLst/>
          </a:prstGeom>
          <a:solidFill>
            <a:srgbClr val="6B6B6B"/>
          </a:solidFill>
          <a:ln w="76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8462772" y="4119988"/>
            <a:ext cx="493776" cy="1397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8706485" y="4284466"/>
            <a:ext cx="6350" cy="20454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8706485" y="3358795"/>
            <a:ext cx="6350" cy="50820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8673084" y="4485834"/>
            <a:ext cx="73151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8673084" y="3355620"/>
            <a:ext cx="73151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8566018" y="444424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8743839" y="419716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8622788" y="411187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8572194" y="289347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8680173" y="354689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8681847" y="387080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8676565" y="426572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8668625" y="420405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8596854" y="390960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8592881" y="433542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8755116" y="395772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8619040" y="372995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8748798" y="367092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8790406" y="391077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8819578" y="401644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8848494" y="403775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8585755" y="356879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8586806" y="426677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8771020" y="357762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8712032" y="279048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8573649" y="373803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8749829" y="368564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8822283" y="374547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8808409" y="413796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8578918" y="424801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8609601" y="433168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8501358" y="377121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8860216" y="367145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8580526" y="406489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8768160" y="403970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8698091" y="387492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8718668" y="398835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8693957" y="388682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8804610" y="429084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8721064" y="441722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8611171" y="389193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8541416" y="422066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8675689" y="333319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8840689" y="396351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8552663" y="373808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8752173" y="376992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8732611" y="418170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8558240" y="422765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8575489" y="430938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8753029" y="347274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8660721" y="424850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8649619" y="373599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8676776" y="379983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8536376" y="419200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8759826" y="407405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8716786" y="422084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8696726" y="378693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8624668" y="434470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8799447" y="431057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8804031" y="436987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8700670" y="422298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8531733" y="426602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8553667" y="429131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8555251" y="392726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8528088" y="411616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8738980" y="418449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8700159" y="408026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8574388" y="419956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8836025" y="413250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8732120" y="386741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8792254" y="432694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8801838" y="430643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8751282" y="410137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8693973" y="385519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8863569" y="378548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8548107" y="371249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8754151" y="382974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8826353" y="380903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8676053" y="411963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8801523" y="385304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8566053" y="388353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8653037" y="432579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8599207" y="421862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8645894" y="425200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8758817" y="377690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8552044" y="416249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8624235" y="39397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8812216" y="420001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8610513" y="433328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8545573" y="426736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8867133" y="359227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8699301" y="410720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8505603" y="389191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8710459" y="418090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8552971" y="446340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8559179" y="409074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8772479" y="441139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8740416" y="433093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8656796" y="436965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8689396" y="429815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8705780" y="444289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8668845" y="424162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8536371" y="403715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8783553" y="369782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8784173" y="423164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8655170" y="402303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8648473" y="387968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8724959" y="414338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8673681" y="442024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8652698" y="433003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TextBox 408"/>
          <p:cNvSpPr txBox="1"/>
          <p:nvPr/>
        </p:nvSpPr>
        <p:spPr>
          <a:xfrm>
            <a:off x="7978140" y="5376672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Rest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7978140" y="5577840"/>
            <a:ext cx="14630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6B6B6B"/>
                </a:solidFill>
                <a:latin typeface="Arial"/>
              </a:rPr>
              <a:t>n = 105</a:t>
            </a:r>
          </a:p>
        </p:txBody>
      </p:sp>
      <p:sp>
        <p:nvSpPr>
          <p:cNvPr id="411" name="Rectangle 410"/>
          <p:cNvSpPr/>
          <p:nvPr/>
        </p:nvSpPr>
        <p:spPr>
          <a:xfrm>
            <a:off x="6858000" y="5298757"/>
            <a:ext cx="2468879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6853237" y="914400"/>
            <a:ext cx="9525" cy="43891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7471410" y="530352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TextBox 413"/>
          <p:cNvSpPr txBox="1"/>
          <p:nvPr/>
        </p:nvSpPr>
        <p:spPr>
          <a:xfrm>
            <a:off x="6926580" y="537667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MICP-
complete</a:t>
            </a:r>
          </a:p>
        </p:txBody>
      </p:sp>
      <p:sp>
        <p:nvSpPr>
          <p:cNvPr id="415" name="Rectangle 414"/>
          <p:cNvSpPr/>
          <p:nvPr/>
        </p:nvSpPr>
        <p:spPr>
          <a:xfrm>
            <a:off x="8705850" y="530352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8161020" y="537667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Rest</a:t>
            </a:r>
          </a:p>
        </p:txBody>
      </p:sp>
      <p:sp>
        <p:nvSpPr>
          <p:cNvPr id="417" name="Rectangle 416"/>
          <p:cNvSpPr/>
          <p:nvPr/>
        </p:nvSpPr>
        <p:spPr>
          <a:xfrm>
            <a:off x="6803136" y="5299710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TextBox 417"/>
          <p:cNvSpPr txBox="1"/>
          <p:nvPr/>
        </p:nvSpPr>
        <p:spPr>
          <a:xfrm>
            <a:off x="6291072" y="522122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419" name="Rectangle 418"/>
          <p:cNvSpPr/>
          <p:nvPr/>
        </p:nvSpPr>
        <p:spPr>
          <a:xfrm>
            <a:off x="6803136" y="4421886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TextBox 419"/>
          <p:cNvSpPr txBox="1"/>
          <p:nvPr/>
        </p:nvSpPr>
        <p:spPr>
          <a:xfrm>
            <a:off x="6291072" y="4343400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421" name="Rectangle 420"/>
          <p:cNvSpPr/>
          <p:nvPr/>
        </p:nvSpPr>
        <p:spPr>
          <a:xfrm>
            <a:off x="6803136" y="3544061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TextBox 421"/>
          <p:cNvSpPr txBox="1"/>
          <p:nvPr/>
        </p:nvSpPr>
        <p:spPr>
          <a:xfrm>
            <a:off x="6291072" y="3465576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7</a:t>
            </a:r>
          </a:p>
        </p:txBody>
      </p:sp>
      <p:sp>
        <p:nvSpPr>
          <p:cNvPr id="423" name="Rectangle 422"/>
          <p:cNvSpPr/>
          <p:nvPr/>
        </p:nvSpPr>
        <p:spPr>
          <a:xfrm>
            <a:off x="6803136" y="2666237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TextBox 423"/>
          <p:cNvSpPr txBox="1"/>
          <p:nvPr/>
        </p:nvSpPr>
        <p:spPr>
          <a:xfrm>
            <a:off x="6291072" y="2587752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425" name="Rectangle 424"/>
          <p:cNvSpPr/>
          <p:nvPr/>
        </p:nvSpPr>
        <p:spPr>
          <a:xfrm>
            <a:off x="6803136" y="1788414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TextBox 425"/>
          <p:cNvSpPr txBox="1"/>
          <p:nvPr/>
        </p:nvSpPr>
        <p:spPr>
          <a:xfrm>
            <a:off x="6291072" y="1709928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9</a:t>
            </a:r>
          </a:p>
        </p:txBody>
      </p:sp>
      <p:sp>
        <p:nvSpPr>
          <p:cNvPr id="427" name="Rectangle 426"/>
          <p:cNvSpPr/>
          <p:nvPr/>
        </p:nvSpPr>
        <p:spPr>
          <a:xfrm>
            <a:off x="6803136" y="910590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TextBox 427"/>
          <p:cNvSpPr txBox="1"/>
          <p:nvPr/>
        </p:nvSpPr>
        <p:spPr>
          <a:xfrm>
            <a:off x="6291072" y="83210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429" name="TextBox 428"/>
          <p:cNvSpPr txBox="1"/>
          <p:nvPr/>
        </p:nvSpPr>
        <p:spPr>
          <a:xfrm rot="16200000">
            <a:off x="5943600" y="2971800"/>
            <a:ext cx="7315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000000"/>
                </a:solidFill>
                <a:latin typeface="Arial"/>
              </a:rPr>
              <a:t>Proteome pI median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035040"/>
            <a:ext cx="9509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Supp Fig S12 — gRodon2 predicted doubling time (n = 85/111 MAGs after ribosomal filter).  MWU p = 0.58, no growth penalty.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S12</a:t>
            </a:r>
          </a:p>
        </p:txBody>
      </p:sp>
      <p:sp>
        <p:nvSpPr>
          <p:cNvPr id="4" name="Rectangle 3"/>
          <p:cNvSpPr/>
          <p:nvPr/>
        </p:nvSpPr>
        <p:spPr>
          <a:xfrm>
            <a:off x="2761488" y="5207684"/>
            <a:ext cx="1243584" cy="101730"/>
          </a:xfrm>
          <a:prstGeom prst="rect">
            <a:avLst/>
          </a:prstGeom>
          <a:solidFill>
            <a:srgbClr val="CC79A7"/>
          </a:solidFill>
          <a:ln w="76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61488" y="5221232"/>
            <a:ext cx="1243584" cy="1397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80105" y="5309414"/>
            <a:ext cx="6350" cy="6673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80105" y="5201611"/>
            <a:ext cx="6350" cy="607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46704" y="5372977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46704" y="5198436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378180" y="5350549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43723" y="5188154"/>
            <a:ext cx="51206" cy="51206"/>
          </a:xfrm>
          <a:prstGeom prst="ellipse">
            <a:avLst/>
          </a:prstGeom>
          <a:solidFill>
            <a:srgbClr val="D55E00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87174" y="5176008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61462" y="5217073"/>
            <a:ext cx="51206" cy="51206"/>
          </a:xfrm>
          <a:prstGeom prst="ellipse">
            <a:avLst/>
          </a:prstGeom>
          <a:solidFill>
            <a:srgbClr val="D55E00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5559552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MICP-complete (n=4)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70448" y="5096313"/>
            <a:ext cx="1243584" cy="224296"/>
          </a:xfrm>
          <a:prstGeom prst="rect">
            <a:avLst/>
          </a:prstGeom>
          <a:solidFill>
            <a:srgbClr val="6B6B6B"/>
          </a:solidFill>
          <a:ln w="76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70448" y="5210240"/>
            <a:ext cx="1243584" cy="1397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89065" y="5320609"/>
            <a:ext cx="6350" cy="12830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89065" y="4867604"/>
            <a:ext cx="6350" cy="22870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55664" y="5445742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55664" y="4864429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169356" y="533887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17201" y="542331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12332" y="521395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84908" y="518609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56857" y="333715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61073" y="503250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7770" y="519064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27772" y="520742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247017" y="510687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237009" y="533915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645601" y="514894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02892" y="484200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629689" y="533596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734480" y="512466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07949" y="508298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880776" y="508214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19062" y="524473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221709" y="509418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685655" y="507609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37095" y="528871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188574" y="519162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632286" y="485248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814762" y="122130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779820" y="526197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201843" y="506964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279119" y="515933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006507" y="454124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910297" y="518285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205895" y="507025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678454" y="468202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501983" y="502738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553808" y="376787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491572" y="516303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770253" y="470104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559840" y="512646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283073" y="524057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107393" y="540026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445562" y="504930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861120" y="529300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135721" y="529594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638189" y="507116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588923" y="533290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149766" y="517607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193207" y="537356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640346" y="507904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407865" y="535073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379905" y="527589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448300" y="504234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094701" y="52200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657464" y="525383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549067" y="166958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498546" y="518827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317066" y="530448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6757249" y="536093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6768795" y="522902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6508479" y="536194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6083008" y="523848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138248" y="521287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6142237" y="494609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6073828" y="511095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604962" y="490335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507192" y="529406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190436" y="526982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849371" y="522315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587686" y="182299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739134" y="521695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763271" y="503815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6635946" y="526957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6491611" y="534075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918742" y="536663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124245" y="538731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643170" y="530740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825012" y="531684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446481" y="504094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762480" y="5178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6169443" y="528808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388512" y="527914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6252942" y="529992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6370525" y="531295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654923" y="531573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134161" y="515722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760720" y="5559552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Rest (n=81)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828800" y="5481637"/>
            <a:ext cx="62179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824037" y="822960"/>
            <a:ext cx="9525" cy="46634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3379470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834640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MICP-complete (n=4)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488430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943600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Rest (n=81)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773936" y="548259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261872" y="540410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773936" y="536056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261872" y="528207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0.5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773936" y="523853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261872" y="516004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773936" y="511650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261872" y="503801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1.5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773936" y="499447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261872" y="491598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773936" y="487244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261872" y="479395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2.5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773936" y="475041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261872" y="467192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123" name="TextBox 122"/>
          <p:cNvSpPr txBox="1"/>
          <p:nvPr/>
        </p:nvSpPr>
        <p:spPr>
          <a:xfrm rot="16200000">
            <a:off x="914400" y="3017520"/>
            <a:ext cx="7315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000000"/>
                </a:solidFill>
                <a:latin typeface="Arial"/>
              </a:rPr>
              <a:t>Predicted doubling time (h, gRodon2 partial)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383280" y="1047749"/>
            <a:ext cx="3108959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379470" y="1051560"/>
            <a:ext cx="7620" cy="914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6488430" y="1051560"/>
            <a:ext cx="7620" cy="914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023360" y="813815"/>
            <a:ext cx="18288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MWU p = 0.58 (n.s.)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035040"/>
            <a:ext cx="9509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Supp Fig S13 — External MGnify livestock-biome MAG rarity across 7,599 species clusters (extended of Fig 8c).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S13</a:t>
            </a:r>
          </a:p>
        </p:txBody>
      </p:sp>
      <p:sp>
        <p:nvSpPr>
          <p:cNvPr id="4" name="Rectangle 3"/>
          <p:cNvSpPr/>
          <p:nvPr/>
        </p:nvSpPr>
        <p:spPr>
          <a:xfrm>
            <a:off x="1547622" y="4888012"/>
            <a:ext cx="624078" cy="598387"/>
          </a:xfrm>
          <a:prstGeom prst="rect">
            <a:avLst/>
          </a:prstGeom>
          <a:solidFill>
            <a:srgbClr val="0072B2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56181" y="4686844"/>
            <a:ext cx="806958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1.28</a:t>
            </a:r>
          </a:p>
        </p:txBody>
      </p:sp>
      <p:sp>
        <p:nvSpPr>
          <p:cNvPr id="6" name="Rectangle 5"/>
          <p:cNvSpPr/>
          <p:nvPr/>
        </p:nvSpPr>
        <p:spPr>
          <a:xfrm>
            <a:off x="2171699" y="3948221"/>
            <a:ext cx="624078" cy="1538178"/>
          </a:xfrm>
          <a:prstGeom prst="rect">
            <a:avLst/>
          </a:prstGeom>
          <a:solidFill>
            <a:srgbClr val="56B4E9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80259" y="3747053"/>
            <a:ext cx="806958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3.30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0701" y="4992485"/>
            <a:ext cx="624078" cy="493914"/>
          </a:xfrm>
          <a:prstGeom prst="rect">
            <a:avLst/>
          </a:prstGeom>
          <a:solidFill>
            <a:srgbClr val="0072B2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9261" y="4791317"/>
            <a:ext cx="806958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1.06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54779" y="5400582"/>
            <a:ext cx="624078" cy="85817"/>
          </a:xfrm>
          <a:prstGeom prst="rect">
            <a:avLst/>
          </a:prstGeom>
          <a:solidFill>
            <a:srgbClr val="56B4E9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63339" y="5199414"/>
            <a:ext cx="806958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0.18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13782" y="3215511"/>
            <a:ext cx="624078" cy="2270888"/>
          </a:xfrm>
          <a:prstGeom prst="rect">
            <a:avLst/>
          </a:prstGeom>
          <a:solidFill>
            <a:srgbClr val="0072B2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2342" y="3014343"/>
            <a:ext cx="806958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4.87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37860" y="2469741"/>
            <a:ext cx="624078" cy="3016658"/>
          </a:xfrm>
          <a:prstGeom prst="rect">
            <a:avLst/>
          </a:prstGeom>
          <a:solidFill>
            <a:srgbClr val="56B4E9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46420" y="2268573"/>
            <a:ext cx="806958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6.47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96862" y="1676399"/>
            <a:ext cx="624078" cy="3810000"/>
          </a:xfrm>
          <a:prstGeom prst="rect">
            <a:avLst/>
          </a:prstGeom>
          <a:solidFill>
            <a:srgbClr val="0072B2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5422" y="1475231"/>
            <a:ext cx="806958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8.17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20940" y="2593337"/>
            <a:ext cx="624078" cy="2893062"/>
          </a:xfrm>
          <a:prstGeom prst="rect">
            <a:avLst/>
          </a:prstGeom>
          <a:solidFill>
            <a:srgbClr val="56B4E9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29500" y="2392169"/>
            <a:ext cx="806958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6.20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0160" y="5481637"/>
            <a:ext cx="7132319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75397" y="914400"/>
            <a:ext cx="9525" cy="4572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67890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23060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Cow rumen
(n=2,729)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50969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06139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Sheep rumen
(n=2,172)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34050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89220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Pig gut
(n=1,376)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17130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72300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Chicken gut
(n=1,322)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25295" y="548259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1" y="540410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25295" y="4549795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1" y="4471309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25295" y="361700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1" y="353851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25295" y="2684205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1" y="2605719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25295" y="1751411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1" y="1672925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25295" y="818616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1" y="740130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 rot="16200000">
            <a:off x="365759" y="3063240"/>
            <a:ext cx="7315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000000"/>
                </a:solidFill>
                <a:latin typeface="Arial"/>
              </a:rPr>
              <a:t>Species-cluster representatives (%)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79" y="960120"/>
            <a:ext cx="164592" cy="128016"/>
          </a:xfrm>
          <a:prstGeom prst="rect">
            <a:avLst/>
          </a:prstGeom>
          <a:solidFill>
            <a:srgbClr val="0072B2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84847" y="923544"/>
            <a:ext cx="160020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% MICP gene-complete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79" y="1271016"/>
            <a:ext cx="164592" cy="128016"/>
          </a:xfrm>
          <a:prstGeom prst="rect">
            <a:avLst/>
          </a:prstGeom>
          <a:solidFill>
            <a:srgbClr val="56B4E9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84847" y="1234440"/>
            <a:ext cx="160020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% single-contig ureC + CA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035040"/>
            <a:ext cx="9509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Supp Fig S14 — MICP pathway stoichiometry per MICP-complete MAG.  All 6 carry complete reaction set.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S14</a:t>
            </a:r>
          </a:p>
        </p:txBody>
      </p:sp>
      <p:sp>
        <p:nvSpPr>
          <p:cNvPr id="4" name="Rectangle 3"/>
          <p:cNvSpPr/>
          <p:nvPr/>
        </p:nvSpPr>
        <p:spPr>
          <a:xfrm>
            <a:off x="1463040" y="1280160"/>
            <a:ext cx="548640" cy="548640"/>
          </a:xfrm>
          <a:prstGeom prst="rect">
            <a:avLst/>
          </a:prstGeom>
          <a:solidFill>
            <a:srgbClr val="91C2DD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81328" y="1444752"/>
            <a:ext cx="51206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1280160"/>
            <a:ext cx="548640" cy="548640"/>
          </a:xfrm>
          <a:prstGeom prst="rect">
            <a:avLst/>
          </a:prstGeom>
          <a:solidFill>
            <a:srgbClr val="6DAED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29968" y="1444752"/>
            <a:ext cx="51206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280160"/>
            <a:ext cx="548640" cy="548640"/>
          </a:xfrm>
          <a:prstGeom prst="rect">
            <a:avLst/>
          </a:prstGeom>
          <a:solidFill>
            <a:srgbClr val="B6D6E9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78608" y="1444752"/>
            <a:ext cx="51206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280160"/>
            <a:ext cx="548640" cy="548640"/>
          </a:xfrm>
          <a:prstGeom prst="rect">
            <a:avLst/>
          </a:prstGeom>
          <a:solidFill>
            <a:srgbClr val="6DAED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27248" y="1444752"/>
            <a:ext cx="51206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1280160"/>
            <a:ext cx="548640" cy="548640"/>
          </a:xfrm>
          <a:prstGeom prst="rect">
            <a:avLst/>
          </a:prstGeom>
          <a:solidFill>
            <a:srgbClr val="B6D6E9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7" y="1444752"/>
            <a:ext cx="51206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280160"/>
            <a:ext cx="548640" cy="548640"/>
          </a:xfrm>
          <a:prstGeom prst="rect">
            <a:avLst/>
          </a:prstGeom>
          <a:solidFill>
            <a:srgbClr val="91C2DD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4527" y="1444752"/>
            <a:ext cx="51206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79" y="1280160"/>
            <a:ext cx="548640" cy="548640"/>
          </a:xfrm>
          <a:prstGeom prst="rect">
            <a:avLst/>
          </a:prstGeom>
          <a:solidFill>
            <a:srgbClr val="F7FAFC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03520" y="1280160"/>
            <a:ext cx="548640" cy="548640"/>
          </a:xfrm>
          <a:prstGeom prst="rect">
            <a:avLst/>
          </a:prstGeom>
          <a:solidFill>
            <a:srgbClr val="DAEAF4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21808" y="1444752"/>
            <a:ext cx="51206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3040" y="1828800"/>
            <a:ext cx="548640" cy="548640"/>
          </a:xfrm>
          <a:prstGeom prst="rect">
            <a:avLst/>
          </a:prstGeom>
          <a:solidFill>
            <a:srgbClr val="91C2DD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81328" y="1993391"/>
            <a:ext cx="51206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0" y="1828800"/>
            <a:ext cx="548640" cy="548640"/>
          </a:xfrm>
          <a:prstGeom prst="rect">
            <a:avLst/>
          </a:prstGeom>
          <a:solidFill>
            <a:srgbClr val="6DAED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29968" y="1993391"/>
            <a:ext cx="51206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0" y="1828800"/>
            <a:ext cx="548640" cy="548640"/>
          </a:xfrm>
          <a:prstGeom prst="rect">
            <a:avLst/>
          </a:prstGeom>
          <a:solidFill>
            <a:srgbClr val="B6D6E9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78608" y="1993391"/>
            <a:ext cx="51206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0" y="1828800"/>
            <a:ext cx="548640" cy="548640"/>
          </a:xfrm>
          <a:prstGeom prst="rect">
            <a:avLst/>
          </a:prstGeom>
          <a:solidFill>
            <a:srgbClr val="6DAED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27248" y="1993391"/>
            <a:ext cx="51206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0" y="1828800"/>
            <a:ext cx="548640" cy="548640"/>
          </a:xfrm>
          <a:prstGeom prst="rect">
            <a:avLst/>
          </a:prstGeom>
          <a:solidFill>
            <a:srgbClr val="B6D6E9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5887" y="1993391"/>
            <a:ext cx="51206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1828800"/>
            <a:ext cx="548640" cy="548640"/>
          </a:xfrm>
          <a:prstGeom prst="rect">
            <a:avLst/>
          </a:prstGeom>
          <a:solidFill>
            <a:srgbClr val="91C2DD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24527" y="1993391"/>
            <a:ext cx="51206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79" y="1828800"/>
            <a:ext cx="548640" cy="548640"/>
          </a:xfrm>
          <a:prstGeom prst="rect">
            <a:avLst/>
          </a:prstGeom>
          <a:solidFill>
            <a:srgbClr val="F7FAFC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03520" y="1828800"/>
            <a:ext cx="548640" cy="548640"/>
          </a:xfrm>
          <a:prstGeom prst="rect">
            <a:avLst/>
          </a:prstGeom>
          <a:solidFill>
            <a:srgbClr val="DAEAF4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21808" y="1993391"/>
            <a:ext cx="51206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463040" y="2377439"/>
            <a:ext cx="548640" cy="548640"/>
          </a:xfrm>
          <a:prstGeom prst="rect">
            <a:avLst/>
          </a:prstGeom>
          <a:solidFill>
            <a:srgbClr val="91C2DD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81328" y="2542031"/>
            <a:ext cx="51206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11680" y="2377439"/>
            <a:ext cx="548640" cy="548640"/>
          </a:xfrm>
          <a:prstGeom prst="rect">
            <a:avLst/>
          </a:prstGeom>
          <a:solidFill>
            <a:srgbClr val="6DAED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29968" y="2542031"/>
            <a:ext cx="51206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0" y="2377439"/>
            <a:ext cx="548640" cy="548640"/>
          </a:xfrm>
          <a:prstGeom prst="rect">
            <a:avLst/>
          </a:prstGeom>
          <a:solidFill>
            <a:srgbClr val="DAEAF4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78608" y="2542031"/>
            <a:ext cx="51206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08960" y="2377439"/>
            <a:ext cx="548640" cy="548640"/>
          </a:xfrm>
          <a:prstGeom prst="rect">
            <a:avLst/>
          </a:prstGeom>
          <a:solidFill>
            <a:srgbClr val="6DAED3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27248" y="2542031"/>
            <a:ext cx="51206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0" y="2377439"/>
            <a:ext cx="548640" cy="548640"/>
          </a:xfrm>
          <a:prstGeom prst="rect">
            <a:avLst/>
          </a:prstGeom>
          <a:solidFill>
            <a:srgbClr val="B6D6E9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75887" y="2542031"/>
            <a:ext cx="51206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06240" y="2377439"/>
            <a:ext cx="548640" cy="548640"/>
          </a:xfrm>
          <a:prstGeom prst="rect">
            <a:avLst/>
          </a:prstGeom>
          <a:solidFill>
            <a:srgbClr val="91C2DD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24527" y="2542031"/>
            <a:ext cx="51206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54879" y="2377439"/>
            <a:ext cx="548640" cy="548640"/>
          </a:xfrm>
          <a:prstGeom prst="rect">
            <a:avLst/>
          </a:prstGeom>
          <a:solidFill>
            <a:srgbClr val="F7FAFC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303520" y="2377439"/>
            <a:ext cx="548640" cy="548640"/>
          </a:xfrm>
          <a:prstGeom prst="rect">
            <a:avLst/>
          </a:prstGeom>
          <a:solidFill>
            <a:srgbClr val="DAEAF4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21808" y="2542031"/>
            <a:ext cx="51206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463040" y="2926079"/>
            <a:ext cx="548640" cy="548640"/>
          </a:xfrm>
          <a:prstGeom prst="rect">
            <a:avLst/>
          </a:prstGeom>
          <a:solidFill>
            <a:srgbClr val="DAEAF4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481328" y="3090671"/>
            <a:ext cx="51206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011680" y="2926079"/>
            <a:ext cx="548640" cy="548640"/>
          </a:xfrm>
          <a:prstGeom prst="rect">
            <a:avLst/>
          </a:prstGeom>
          <a:solidFill>
            <a:srgbClr val="91C2DD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29968" y="3090671"/>
            <a:ext cx="51206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560320" y="2926079"/>
            <a:ext cx="548640" cy="548640"/>
          </a:xfrm>
          <a:prstGeom prst="rect">
            <a:avLst/>
          </a:prstGeom>
          <a:solidFill>
            <a:srgbClr val="DAEAF4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78608" y="3090671"/>
            <a:ext cx="51206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08960" y="2926079"/>
            <a:ext cx="548640" cy="548640"/>
          </a:xfrm>
          <a:prstGeom prst="rect">
            <a:avLst/>
          </a:prstGeom>
          <a:solidFill>
            <a:srgbClr val="91C2DD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27248" y="3090671"/>
            <a:ext cx="51206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0" y="2926079"/>
            <a:ext cx="548640" cy="548640"/>
          </a:xfrm>
          <a:prstGeom prst="rect">
            <a:avLst/>
          </a:prstGeom>
          <a:solidFill>
            <a:srgbClr val="B6D6E9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75887" y="3090671"/>
            <a:ext cx="51206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06240" y="2926079"/>
            <a:ext cx="548640" cy="548640"/>
          </a:xfrm>
          <a:prstGeom prst="rect">
            <a:avLst/>
          </a:prstGeom>
          <a:solidFill>
            <a:srgbClr val="B6D6E9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24527" y="3090671"/>
            <a:ext cx="51206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754879" y="2926079"/>
            <a:ext cx="548640" cy="548640"/>
          </a:xfrm>
          <a:prstGeom prst="rect">
            <a:avLst/>
          </a:prstGeom>
          <a:solidFill>
            <a:srgbClr val="F7FAFC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03520" y="2926079"/>
            <a:ext cx="548640" cy="548640"/>
          </a:xfrm>
          <a:prstGeom prst="rect">
            <a:avLst/>
          </a:prstGeom>
          <a:solidFill>
            <a:srgbClr val="DAEAF4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21808" y="3090671"/>
            <a:ext cx="51206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463040" y="3474720"/>
            <a:ext cx="548640" cy="548640"/>
          </a:xfrm>
          <a:prstGeom prst="rect">
            <a:avLst/>
          </a:prstGeom>
          <a:solidFill>
            <a:srgbClr val="489AC8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481328" y="3639311"/>
            <a:ext cx="51206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11680" y="3474720"/>
            <a:ext cx="548640" cy="548640"/>
          </a:xfrm>
          <a:prstGeom prst="rect">
            <a:avLst/>
          </a:prstGeom>
          <a:solidFill>
            <a:srgbClr val="B6D6E9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29968" y="3639311"/>
            <a:ext cx="51206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560320" y="3474720"/>
            <a:ext cx="548640" cy="548640"/>
          </a:xfrm>
          <a:prstGeom prst="rect">
            <a:avLst/>
          </a:prstGeom>
          <a:solidFill>
            <a:srgbClr val="DAEAF4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578608" y="3639311"/>
            <a:ext cx="51206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108960" y="3474720"/>
            <a:ext cx="548640" cy="548640"/>
          </a:xfrm>
          <a:prstGeom prst="rect">
            <a:avLst/>
          </a:prstGeom>
          <a:solidFill>
            <a:srgbClr val="DAEAF4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127248" y="3639311"/>
            <a:ext cx="51206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57600" y="3474720"/>
            <a:ext cx="548640" cy="548640"/>
          </a:xfrm>
          <a:prstGeom prst="rect">
            <a:avLst/>
          </a:prstGeom>
          <a:solidFill>
            <a:srgbClr val="DAEAF4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75887" y="3639311"/>
            <a:ext cx="51206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206240" y="3474720"/>
            <a:ext cx="548640" cy="548640"/>
          </a:xfrm>
          <a:prstGeom prst="rect">
            <a:avLst/>
          </a:prstGeom>
          <a:solidFill>
            <a:srgbClr val="DAEAF4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224527" y="3639311"/>
            <a:ext cx="51206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754879" y="3474720"/>
            <a:ext cx="548640" cy="548640"/>
          </a:xfrm>
          <a:prstGeom prst="rect">
            <a:avLst/>
          </a:prstGeom>
          <a:solidFill>
            <a:srgbClr val="DAEAF4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73167" y="3639311"/>
            <a:ext cx="51206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303520" y="3474720"/>
            <a:ext cx="548640" cy="548640"/>
          </a:xfrm>
          <a:prstGeom prst="rect">
            <a:avLst/>
          </a:prstGeom>
          <a:solidFill>
            <a:srgbClr val="F7FAFC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463040" y="4023360"/>
            <a:ext cx="548640" cy="548640"/>
          </a:xfrm>
          <a:prstGeom prst="rect">
            <a:avLst/>
          </a:prstGeom>
          <a:solidFill>
            <a:srgbClr val="0072B2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81328" y="4187952"/>
            <a:ext cx="51206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7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011680" y="4023360"/>
            <a:ext cx="548640" cy="548640"/>
          </a:xfrm>
          <a:prstGeom prst="rect">
            <a:avLst/>
          </a:prstGeom>
          <a:solidFill>
            <a:srgbClr val="B6D6E9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029968" y="4187952"/>
            <a:ext cx="51206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560320" y="4023360"/>
            <a:ext cx="548640" cy="548640"/>
          </a:xfrm>
          <a:prstGeom prst="rect">
            <a:avLst/>
          </a:prstGeom>
          <a:solidFill>
            <a:srgbClr val="B6D6E9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578608" y="4187952"/>
            <a:ext cx="51206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108960" y="4023360"/>
            <a:ext cx="548640" cy="548640"/>
          </a:xfrm>
          <a:prstGeom prst="rect">
            <a:avLst/>
          </a:prstGeom>
          <a:solidFill>
            <a:srgbClr val="B6D6E9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127248" y="4187952"/>
            <a:ext cx="51206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657600" y="4023360"/>
            <a:ext cx="548640" cy="548640"/>
          </a:xfrm>
          <a:prstGeom prst="rect">
            <a:avLst/>
          </a:prstGeom>
          <a:solidFill>
            <a:srgbClr val="B6D6E9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675887" y="4187952"/>
            <a:ext cx="51206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206240" y="4023360"/>
            <a:ext cx="548640" cy="548640"/>
          </a:xfrm>
          <a:prstGeom prst="rect">
            <a:avLst/>
          </a:prstGeom>
          <a:solidFill>
            <a:srgbClr val="B6D6E9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224527" y="4187952"/>
            <a:ext cx="512063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754879" y="4023360"/>
            <a:ext cx="548640" cy="548640"/>
          </a:xfrm>
          <a:prstGeom prst="rect">
            <a:avLst/>
          </a:prstGeom>
          <a:solidFill>
            <a:srgbClr val="F7FAFC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303520" y="4023360"/>
            <a:ext cx="548640" cy="548640"/>
          </a:xfrm>
          <a:prstGeom prst="rect">
            <a:avLst/>
          </a:prstGeom>
          <a:solidFill>
            <a:srgbClr val="F7FAFC"/>
          </a:solidFill>
          <a:ln w="317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48640" y="1444752"/>
            <a:ext cx="8686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0072B2"/>
                </a:solidFill>
                <a:latin typeface="Arial"/>
              </a:rPr>
              <a:t>S13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8640" y="1993391"/>
            <a:ext cx="8686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0072B2"/>
                </a:solidFill>
                <a:latin typeface="Arial"/>
              </a:rPr>
              <a:t>S16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2542031"/>
            <a:ext cx="8686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0072B2"/>
                </a:solidFill>
                <a:latin typeface="Arial"/>
              </a:rPr>
              <a:t>S23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8640" y="3090671"/>
            <a:ext cx="8686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0072B2"/>
                </a:solidFill>
                <a:latin typeface="Arial"/>
              </a:rPr>
              <a:t>C22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48640" y="3639311"/>
            <a:ext cx="8686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D55E00"/>
                </a:solidFill>
                <a:latin typeface="Arial"/>
              </a:rPr>
              <a:t>M1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48640" y="4187952"/>
            <a:ext cx="8686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D55E00"/>
                </a:solidFill>
                <a:latin typeface="Arial"/>
              </a:rPr>
              <a:t>S26</a:t>
            </a:r>
          </a:p>
        </p:txBody>
      </p:sp>
      <p:sp>
        <p:nvSpPr>
          <p:cNvPr id="99" name="TextBox 98"/>
          <p:cNvSpPr txBox="1"/>
          <p:nvPr/>
        </p:nvSpPr>
        <p:spPr>
          <a:xfrm rot="18900000">
            <a:off x="1280160" y="868680"/>
            <a:ext cx="9144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ureA</a:t>
            </a:r>
          </a:p>
        </p:txBody>
      </p:sp>
      <p:sp>
        <p:nvSpPr>
          <p:cNvPr id="100" name="TextBox 99"/>
          <p:cNvSpPr txBox="1"/>
          <p:nvPr/>
        </p:nvSpPr>
        <p:spPr>
          <a:xfrm rot="18900000">
            <a:off x="1828800" y="868680"/>
            <a:ext cx="9144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ureB</a:t>
            </a:r>
          </a:p>
        </p:txBody>
      </p:sp>
      <p:sp>
        <p:nvSpPr>
          <p:cNvPr id="101" name="TextBox 100"/>
          <p:cNvSpPr txBox="1"/>
          <p:nvPr/>
        </p:nvSpPr>
        <p:spPr>
          <a:xfrm rot="18900000">
            <a:off x="2377439" y="868680"/>
            <a:ext cx="9144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ureC</a:t>
            </a:r>
          </a:p>
        </p:txBody>
      </p:sp>
      <p:sp>
        <p:nvSpPr>
          <p:cNvPr id="102" name="TextBox 101"/>
          <p:cNvSpPr txBox="1"/>
          <p:nvPr/>
        </p:nvSpPr>
        <p:spPr>
          <a:xfrm rot="18900000">
            <a:off x="2926079" y="868680"/>
            <a:ext cx="9144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ureE</a:t>
            </a:r>
          </a:p>
        </p:txBody>
      </p:sp>
      <p:sp>
        <p:nvSpPr>
          <p:cNvPr id="103" name="TextBox 102"/>
          <p:cNvSpPr txBox="1"/>
          <p:nvPr/>
        </p:nvSpPr>
        <p:spPr>
          <a:xfrm rot="18900000">
            <a:off x="3474720" y="868680"/>
            <a:ext cx="9144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ureF</a:t>
            </a:r>
          </a:p>
        </p:txBody>
      </p:sp>
      <p:sp>
        <p:nvSpPr>
          <p:cNvPr id="104" name="TextBox 103"/>
          <p:cNvSpPr txBox="1"/>
          <p:nvPr/>
        </p:nvSpPr>
        <p:spPr>
          <a:xfrm rot="18900000">
            <a:off x="4023359" y="868680"/>
            <a:ext cx="9144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ureG</a:t>
            </a:r>
          </a:p>
        </p:txBody>
      </p:sp>
      <p:sp>
        <p:nvSpPr>
          <p:cNvPr id="105" name="TextBox 104"/>
          <p:cNvSpPr txBox="1"/>
          <p:nvPr/>
        </p:nvSpPr>
        <p:spPr>
          <a:xfrm rot="18900000">
            <a:off x="4571999" y="868680"/>
            <a:ext cx="9144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Ca_transporter</a:t>
            </a:r>
          </a:p>
        </p:txBody>
      </p:sp>
      <p:sp>
        <p:nvSpPr>
          <p:cNvPr id="106" name="TextBox 105"/>
          <p:cNvSpPr txBox="1"/>
          <p:nvPr/>
        </p:nvSpPr>
        <p:spPr>
          <a:xfrm rot="18900000">
            <a:off x="5120640" y="868680"/>
            <a:ext cx="9144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Ca_ATPase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035040"/>
            <a:ext cx="9509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Supp Fig S15 — geNomad MGE call counts per MAG.  0/6 MICP-complete MAGs carry ureA/B/C on MGE contig.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S15</a:t>
            </a:r>
          </a:p>
        </p:txBody>
      </p:sp>
      <p:sp>
        <p:nvSpPr>
          <p:cNvPr id="4" name="Rectangle 3"/>
          <p:cNvSpPr/>
          <p:nvPr/>
        </p:nvSpPr>
        <p:spPr>
          <a:xfrm>
            <a:off x="1591056" y="5209413"/>
            <a:ext cx="658368" cy="75285"/>
          </a:xfrm>
          <a:prstGeom prst="rect">
            <a:avLst/>
          </a:prstGeom>
          <a:solidFill>
            <a:srgbClr val="CC79A7"/>
          </a:solidFill>
          <a:ln w="76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91056" y="5211839"/>
            <a:ext cx="658368" cy="1397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917065" y="5284698"/>
            <a:ext cx="6350" cy="1882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83664" y="5300345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83664" y="5206238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05491" y="5183810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46073" y="5277916"/>
            <a:ext cx="51206" cy="51206"/>
          </a:xfrm>
          <a:prstGeom prst="ellipse">
            <a:avLst/>
          </a:prstGeom>
          <a:solidFill>
            <a:srgbClr val="D55E00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22018" y="5183810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90758" y="5259095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026034" y="5202631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995475" y="4355674"/>
            <a:ext cx="51206" cy="51206"/>
          </a:xfrm>
          <a:prstGeom prst="ellipse">
            <a:avLst/>
          </a:prstGeom>
          <a:solidFill>
            <a:srgbClr val="D55E00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376672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MICP-complete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577840"/>
            <a:ext cx="14630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6B6B6B"/>
                </a:solidFill>
                <a:latin typeface="Arial"/>
              </a:rPr>
              <a:t>n = 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36976" y="4578901"/>
            <a:ext cx="658368" cy="630512"/>
          </a:xfrm>
          <a:prstGeom prst="rect">
            <a:avLst/>
          </a:prstGeom>
          <a:solidFill>
            <a:srgbClr val="6B6B6B"/>
          </a:solidFill>
          <a:ln w="76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36976" y="4995394"/>
            <a:ext cx="658368" cy="1397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62985" y="5209413"/>
            <a:ext cx="6350" cy="9410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62985" y="3684890"/>
            <a:ext cx="6350" cy="89401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29584" y="5300345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9584" y="3681715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383173" y="518381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20267" y="490149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458866" y="503324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391406" y="524027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535379" y="510852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537611" y="484502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530568" y="458152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19981" y="433685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24287" y="490149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18989" y="305700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635302" y="221004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453868" y="435567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626879" y="360282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682356" y="482620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721251" y="446860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759807" y="412981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409487" y="266176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410889" y="507088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656508" y="29064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577858" y="495795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393347" y="518381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628253" y="409217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724858" y="518381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706360" y="507088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400371" y="508970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441282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296958" y="508970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775435" y="128780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402517" y="512734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652695" y="520263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559269" y="514616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586706" y="495795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553758" y="444978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701295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589899" y="525909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443376" y="441213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350369" y="497677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529399" y="456270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749401" y="484502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365366" y="418628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631378" y="495795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3605296" y="497677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372802" y="471327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395800" y="497677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632520" y="525909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509442" y="492031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494640" y="508970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530849" y="525909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343649" y="365928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641583" y="512734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584196" y="454388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557449" y="501441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461372" y="492031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694410" y="522145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700523" y="480738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562709" y="499559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337459" y="522145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366704" y="492031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368815" y="499559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332599" y="484502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613788" y="482620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562027" y="444978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394333" y="514616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743181" y="525909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604642" y="516498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684820" y="46756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697598" y="514616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630191" y="499559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553778" y="403571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3779906" y="522145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359290" y="524027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634015" y="284997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730285" y="375339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3529886" y="441213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3697179" y="522145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3383218" y="426156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3499197" y="514616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3427424" y="463799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3489674" y="460035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640237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364540" y="441213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3460795" y="518381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3711435" y="428038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3442499" y="454388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3355912" y="510852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3784659" y="525909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3560883" y="520263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330261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3575760" y="456270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365775" y="518381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374053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3658453" y="505206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3615702" y="507088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3504209" y="501441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3547676" y="518381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3569521" y="520263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3520275" y="514616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3343642" y="497677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3673218" y="448742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3674045" y="516498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3502041" y="522145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3493112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3595094" y="476974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3526723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3498745" y="463799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834640" y="5376672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Rest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834640" y="5577840"/>
            <a:ext cx="14630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6B6B6B"/>
                </a:solidFill>
                <a:latin typeface="Arial"/>
              </a:rPr>
              <a:t>n = 105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097280" y="5298757"/>
            <a:ext cx="3291839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092517" y="914400"/>
            <a:ext cx="9525" cy="43891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916430" y="530352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371600" y="537667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MICP-complete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3562350" y="530352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3017520" y="537667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Rest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042415" y="529971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30351" y="522122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042415" y="3982221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30351" y="3903735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70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042415" y="2645911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30351" y="2567425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141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042415" y="130960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530351" y="123111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212</a:t>
            </a:r>
          </a:p>
        </p:txBody>
      </p:sp>
      <p:sp>
        <p:nvSpPr>
          <p:cNvPr id="144" name="TextBox 143"/>
          <p:cNvSpPr txBox="1"/>
          <p:nvPr/>
        </p:nvSpPr>
        <p:spPr>
          <a:xfrm rot="16200000">
            <a:off x="182879" y="2971800"/>
            <a:ext cx="7315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000000"/>
                </a:solidFill>
                <a:latin typeface="Arial"/>
              </a:rPr>
              <a:t>n plasmid contigs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705856" y="5209635"/>
            <a:ext cx="658368" cy="93884"/>
          </a:xfrm>
          <a:prstGeom prst="rect">
            <a:avLst/>
          </a:prstGeom>
          <a:solidFill>
            <a:srgbClr val="CC79A7"/>
          </a:solidFill>
          <a:ln w="76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705856" y="5249592"/>
            <a:ext cx="658367" cy="1397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6031865" y="5162692"/>
            <a:ext cx="6350" cy="4694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998464" y="5300345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98464" y="5159517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020291" y="5184031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160873" y="5137089"/>
            <a:ext cx="51206" cy="51206"/>
          </a:xfrm>
          <a:prstGeom prst="ellipse">
            <a:avLst/>
          </a:prstGeom>
          <a:solidFill>
            <a:srgbClr val="D55E00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236818" y="5277916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5905558" y="5277916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140834" y="5277916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110275" y="5184031"/>
            <a:ext cx="51206" cy="51206"/>
          </a:xfrm>
          <a:prstGeom prst="ellipse">
            <a:avLst/>
          </a:prstGeom>
          <a:solidFill>
            <a:srgbClr val="D55E00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303520" y="5376672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MICP-complete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303520" y="5577840"/>
            <a:ext cx="14630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6B6B6B"/>
                </a:solidFill>
                <a:latin typeface="Arial"/>
              </a:rPr>
              <a:t>n = 6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351776" y="5115750"/>
            <a:ext cx="658368" cy="140827"/>
          </a:xfrm>
          <a:prstGeom prst="rect">
            <a:avLst/>
          </a:prstGeom>
          <a:solidFill>
            <a:srgbClr val="6B6B6B"/>
          </a:solidFill>
          <a:ln w="76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7351776" y="5202650"/>
            <a:ext cx="658368" cy="1397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7677785" y="5256577"/>
            <a:ext cx="6350" cy="4694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7677785" y="4927980"/>
            <a:ext cx="6350" cy="18776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7644384" y="5300345"/>
            <a:ext cx="73151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7644384" y="4924805"/>
            <a:ext cx="73151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7497973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7735067" y="523097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7573666" y="518403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506206" y="513708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650179" y="523097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7652411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645368" y="513708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7634781" y="476154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539087" y="523097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533789" y="509014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750102" y="523097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568668" y="523097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741679" y="513708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797156" y="490237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836051" y="490237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7874607" y="471460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7524287" y="504320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7525689" y="509014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7771308" y="518403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7692658" y="509014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7508147" y="429212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7743053" y="490237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7839658" y="518403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7821160" y="523097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7515171" y="504320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7556082" y="518403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7411758" y="513708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7890235" y="128780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7517317" y="518403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7767495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767406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7701506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7668558" y="457377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7816095" y="523097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7704699" y="513708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7558176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7465169" y="523097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764419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7864201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7480166" y="513708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7746178" y="518403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7720096" y="509014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7487602" y="523097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7510600" y="518403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7747320" y="509014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7624242" y="518403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7609440" y="471460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764564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7458449" y="518403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7756383" y="513708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7698996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7672249" y="518403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7576172" y="499626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7809210" y="518403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7815323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7677509" y="509014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452259" y="518403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7481504" y="513708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7483615" y="509014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744739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7728588" y="518403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7676827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7509133" y="504320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7857981" y="513708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7719442" y="513708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7799620" y="518403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7812398" y="509014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7744991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7668578" y="518403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7894706" y="513708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7474090" y="523097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7748815" y="499626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7845085" y="523097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7644686" y="513708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7811979" y="513708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7498018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7613997" y="499626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7542224" y="471460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7604474" y="523097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7755037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7479340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7575595" y="518403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7826235" y="518403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7557299" y="490237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7470712" y="504320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789945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7675683" y="513708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7417419" y="523097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7690560" y="471460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7480575" y="518403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7488853" y="523097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7773253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7730502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7619009" y="485543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7662476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7684321" y="513708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7635075" y="523097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7458442" y="509014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7788018" y="513708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7788845" y="509014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7616841" y="518403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7607912" y="518403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7709894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7641523" y="523097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7613545" y="504320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6949440" y="5376672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Rest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6949440" y="5577840"/>
            <a:ext cx="14630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6B6B6B"/>
                </a:solidFill>
                <a:latin typeface="Arial"/>
              </a:rPr>
              <a:t>n = 105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5212080" y="5298757"/>
            <a:ext cx="329184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5207317" y="914400"/>
            <a:ext cx="9525" cy="43891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6031230" y="530352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5486400" y="537667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MICP-complete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7677150" y="530352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7132320" y="537667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Rest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5157216" y="5299710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4645152" y="522122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5157216" y="3985321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4645152" y="3906835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28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5157216" y="2670932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4645152" y="2592446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56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5157216" y="1309600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4645152" y="123111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85</a:t>
            </a:r>
          </a:p>
        </p:txBody>
      </p:sp>
      <p:sp>
        <p:nvSpPr>
          <p:cNvPr id="285" name="TextBox 284"/>
          <p:cNvSpPr txBox="1"/>
          <p:nvPr/>
        </p:nvSpPr>
        <p:spPr>
          <a:xfrm rot="16200000">
            <a:off x="4297680" y="2971800"/>
            <a:ext cx="7315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000000"/>
                </a:solidFill>
                <a:latin typeface="Arial"/>
              </a:rPr>
              <a:t>n virus contigs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035040"/>
            <a:ext cx="9509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Supp Fig S16 — DefenseFinder + minced CRISPR arrays per MAG.  Both groups = 0 (defense-naive).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S16</a:t>
            </a:r>
          </a:p>
        </p:txBody>
      </p:sp>
      <p:sp>
        <p:nvSpPr>
          <p:cNvPr id="4" name="Rectangle 3"/>
          <p:cNvSpPr/>
          <p:nvPr/>
        </p:nvSpPr>
        <p:spPr>
          <a:xfrm>
            <a:off x="1591056" y="5303520"/>
            <a:ext cx="658368" cy="0"/>
          </a:xfrm>
          <a:prstGeom prst="rect">
            <a:avLst/>
          </a:prstGeom>
          <a:solidFill>
            <a:srgbClr val="CC79A7"/>
          </a:solidFill>
          <a:ln w="76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91056" y="5296535"/>
            <a:ext cx="658368" cy="1397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83664" y="5300345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83664" y="5300345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05491" y="5277916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46073" y="5277916"/>
            <a:ext cx="51206" cy="51206"/>
          </a:xfrm>
          <a:prstGeom prst="ellipse">
            <a:avLst/>
          </a:prstGeom>
          <a:solidFill>
            <a:srgbClr val="D55E00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122018" y="5277916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90758" y="5277916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26034" y="5277916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995475" y="5277916"/>
            <a:ext cx="51206" cy="51206"/>
          </a:xfrm>
          <a:prstGeom prst="ellipse">
            <a:avLst/>
          </a:prstGeom>
          <a:solidFill>
            <a:srgbClr val="D55E00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5376672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MICP-complete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36976" y="5303520"/>
            <a:ext cx="658368" cy="0"/>
          </a:xfrm>
          <a:prstGeom prst="rect">
            <a:avLst/>
          </a:prstGeom>
          <a:solidFill>
            <a:srgbClr val="6B6B6B"/>
          </a:solidFill>
          <a:ln w="76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36976" y="5296535"/>
            <a:ext cx="658368" cy="1397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29584" y="5300345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9584" y="5300345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383173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20267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458866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91406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3537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537611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530568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19981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424287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41898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635302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453868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62687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682356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721251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759807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409487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41088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656508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577858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393347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628253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724858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706360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00371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441282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296958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775435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402517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652695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55926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586706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553758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701295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58989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443376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35036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52939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749401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365366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631378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605296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372802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395800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632520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3509442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494640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53084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34364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641583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584196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55744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61372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694410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700523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56270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33745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366704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368815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33259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613788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562027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394333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743181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604642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684820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697598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630191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553778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779906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359290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634015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730285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3529886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69717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383218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499197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3427424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3489674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3640237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3364540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3460795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3711435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44249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355912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378465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3560883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330261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3575760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3365775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3374053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3658453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3615702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50420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547676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3569521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3520275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3343642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3673218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3674045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3502041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3493112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3595094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3526723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3498745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834640" y="5376672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Rest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097280" y="5298757"/>
            <a:ext cx="3291839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092517" y="914400"/>
            <a:ext cx="9525" cy="43891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916430" y="530352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371600" y="537667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MICP-complete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562350" y="530352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017520" y="537667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Rest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042415" y="529971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30351" y="522122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042415" y="3105149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30351" y="302666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042415" y="91059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530351" y="83210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37" name="TextBox 136"/>
          <p:cNvSpPr txBox="1"/>
          <p:nvPr/>
        </p:nvSpPr>
        <p:spPr>
          <a:xfrm rot="16200000">
            <a:off x="182879" y="2971800"/>
            <a:ext cx="7315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000000"/>
                </a:solidFill>
                <a:latin typeface="Arial"/>
              </a:rPr>
              <a:t>n defense systems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920240" y="1139190"/>
            <a:ext cx="1645920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916430" y="1143000"/>
            <a:ext cx="7620" cy="914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3562350" y="1143000"/>
            <a:ext cx="7620" cy="914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828800" y="905256"/>
            <a:ext cx="18288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MWU p = 1.0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5705856" y="5303520"/>
            <a:ext cx="658368" cy="0"/>
          </a:xfrm>
          <a:prstGeom prst="rect">
            <a:avLst/>
          </a:prstGeom>
          <a:solidFill>
            <a:srgbClr val="CC79A7"/>
          </a:solidFill>
          <a:ln w="76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705856" y="5296535"/>
            <a:ext cx="658367" cy="1397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998464" y="5300345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998464" y="5300345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020291" y="5277916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160873" y="5277916"/>
            <a:ext cx="51206" cy="51206"/>
          </a:xfrm>
          <a:prstGeom prst="ellipse">
            <a:avLst/>
          </a:prstGeom>
          <a:solidFill>
            <a:srgbClr val="D55E00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236818" y="5277916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5905558" y="5277916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140834" y="5277916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110275" y="5277916"/>
            <a:ext cx="51206" cy="51206"/>
          </a:xfrm>
          <a:prstGeom prst="ellipse">
            <a:avLst/>
          </a:prstGeom>
          <a:solidFill>
            <a:srgbClr val="D55E00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5303520" y="5376672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MICP-complete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7351776" y="5303520"/>
            <a:ext cx="658368" cy="0"/>
          </a:xfrm>
          <a:prstGeom prst="rect">
            <a:avLst/>
          </a:prstGeom>
          <a:solidFill>
            <a:srgbClr val="6B6B6B"/>
          </a:solidFill>
          <a:ln w="76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7351776" y="5296535"/>
            <a:ext cx="658368" cy="1397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7644384" y="5300345"/>
            <a:ext cx="73151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7644384" y="5300345"/>
            <a:ext cx="73151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7497973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735067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573666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506206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765017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7652411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7645368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7634781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7539087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753378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750102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568668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774167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797156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7836051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874607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524287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52568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771308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692658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508147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743053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7839658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7821160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7515171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7556082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7411758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7890235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7517317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7767495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767406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7701506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7668558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7816095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770469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7558176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746516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764419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7864201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7480166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7746178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7720096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7487602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7510600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7747320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7624242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7609440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764564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745844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7756383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7698996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767224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7576172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7809210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7815323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767750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745225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7481504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7483615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744739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7728588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7676827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7509133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857981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7719442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7799620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7812398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7744991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7668578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7894706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7474090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7748815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7845085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7644686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781197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7498018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7613997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7542224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7604474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7755037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7479340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7575595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7826235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755729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7470712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789945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7675683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741741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7690560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7480575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7488853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7773253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7730502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7619009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7662476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7684321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7635075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7458442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7788018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7788845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7616841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7607912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7709894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7641523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7613545" y="52779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6949440" y="5376672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Rest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5212080" y="5298757"/>
            <a:ext cx="329184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5207317" y="914400"/>
            <a:ext cx="9525" cy="43891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6031230" y="530352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5486400" y="537667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MICP-complete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7677150" y="530352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7132320" y="537667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Rest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5157216" y="5299710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4645152" y="522122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5157216" y="3105149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4645152" y="302666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5157216" y="910590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4645152" y="83210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275" name="TextBox 274"/>
          <p:cNvSpPr txBox="1"/>
          <p:nvPr/>
        </p:nvSpPr>
        <p:spPr>
          <a:xfrm rot="16200000">
            <a:off x="4297680" y="2971800"/>
            <a:ext cx="7315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000000"/>
                </a:solidFill>
                <a:latin typeface="Arial"/>
              </a:rPr>
              <a:t>n crispr arrays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6035040" y="1139190"/>
            <a:ext cx="1645919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6031230" y="1143000"/>
            <a:ext cx="7620" cy="914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7677150" y="1143000"/>
            <a:ext cx="7620" cy="914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5943600" y="905256"/>
            <a:ext cx="18288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MWU p = 1.0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035040"/>
            <a:ext cx="9509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Supp Fig S17a — Genome-wide GC3 codon usage: MICP-complete 51.4 vs rest 70.1 (MWU p = 0.043).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S17a</a:t>
            </a:r>
          </a:p>
        </p:txBody>
      </p:sp>
      <p:sp>
        <p:nvSpPr>
          <p:cNvPr id="4" name="Rectangle 3"/>
          <p:cNvSpPr/>
          <p:nvPr/>
        </p:nvSpPr>
        <p:spPr>
          <a:xfrm>
            <a:off x="3081528" y="2439642"/>
            <a:ext cx="1060704" cy="1953261"/>
          </a:xfrm>
          <a:prstGeom prst="rect">
            <a:avLst/>
          </a:prstGeom>
          <a:solidFill>
            <a:srgbClr val="CC79A7"/>
          </a:solidFill>
          <a:ln w="76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81528" y="4357586"/>
            <a:ext cx="1060704" cy="1397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08705" y="4392904"/>
            <a:ext cx="6350" cy="204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08705" y="1956338"/>
            <a:ext cx="6350" cy="48330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75304" y="4410132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75304" y="1953163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03765" y="4387704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830257" y="1930735"/>
            <a:ext cx="51206" cy="51206"/>
          </a:xfrm>
          <a:prstGeom prst="ellipse">
            <a:avLst/>
          </a:prstGeom>
          <a:solidFill>
            <a:srgbClr val="D55E00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952613" y="4332566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18917" y="4345371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97972" y="4367301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48739" y="2414039"/>
            <a:ext cx="51206" cy="51206"/>
          </a:xfrm>
          <a:prstGeom prst="ellipse">
            <a:avLst/>
          </a:prstGeom>
          <a:solidFill>
            <a:srgbClr val="D55E00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360" y="5559552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MICP-complete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5760720"/>
            <a:ext cx="14630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6B6B6B"/>
                </a:solidFill>
                <a:latin typeface="Arial"/>
              </a:rPr>
              <a:t>n =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33288" y="1743970"/>
            <a:ext cx="1060704" cy="1771726"/>
          </a:xfrm>
          <a:prstGeom prst="rect">
            <a:avLst/>
          </a:prstGeom>
          <a:solidFill>
            <a:srgbClr val="6B6B6B"/>
          </a:solidFill>
          <a:ln w="76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33288" y="1954716"/>
            <a:ext cx="1060704" cy="1397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0465" y="3515697"/>
            <a:ext cx="6350" cy="169461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0465" y="1340714"/>
            <a:ext cx="6350" cy="40325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27064" y="5207137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7064" y="1337539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84474" y="198539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6459" y="486087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106424" y="152724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997739" y="289020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29695" y="436415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233291" y="175632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221945" y="467721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04888" y="485678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050714" y="210760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042178" y="247555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390682" y="200472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098372" y="213340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377111" y="183029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66491" y="169203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529156" y="204389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591273" y="213908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026870" y="178979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029128" y="408997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24847" y="174806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298133" y="156809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000865" y="184626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79326" y="186490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534967" y="154302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505164" y="172578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012183" y="487856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078095" y="274994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845573" y="187309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616453" y="261080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015639" y="175782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418704" y="168997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268185" y="166520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312388" y="173017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259305" y="240089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497004" y="449912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317534" y="201933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081468" y="185976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931623" y="182220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220061" y="149405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574508" y="146420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955785" y="172649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84361" y="131511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342340" y="197918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967765" y="198144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004818" y="231955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386200" y="150752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187908" y="187566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164060" y="154157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222397" y="477089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920797" y="482522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400801" y="176246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6308345" y="187622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6265253" y="210027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6110461" y="412185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6485912" y="471566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495760" y="426171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6273726" y="192789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910824" y="445090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957940" y="203227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5961343" y="182390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5902994" y="193985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356020" y="205453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272628" y="167345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002454" y="168693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564487" y="174696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6341285" y="144645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6470461" y="186869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491049" y="277994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382447" y="184243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259338" y="186667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623656" y="473073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5945997" y="470618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388609" y="161955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6543710" y="170006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220845" y="196154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6490373" y="187069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5984548" y="169840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171401" y="459336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055767" y="199922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156059" y="449234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6398634" y="482929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5954454" y="191720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6109532" y="507484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6513341" y="193609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6080054" y="215217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5940554" y="195676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631313" y="436214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6270785" y="158017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5854693" y="470373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6294754" y="178142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956445" y="183918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969780" y="171094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427980" y="410557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6359105" y="518470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179477" y="452323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6249507" y="434175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6284702" y="165407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6205360" y="155598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920785" y="168665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6451769" y="148833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6453102" y="205496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6175983" y="168260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6161598" y="134148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6325902" y="166540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6215749" y="431024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6170674" y="227842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532120" y="5559552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Rest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532120" y="5760720"/>
            <a:ext cx="14630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6B6B6B"/>
                </a:solidFill>
                <a:latin typeface="Arial"/>
              </a:rPr>
              <a:t>n = 105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286000" y="5481637"/>
            <a:ext cx="53035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2281237" y="822960"/>
            <a:ext cx="9525" cy="46634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3608070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3063240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MICP-complete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259830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5715000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Rest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2231136" y="548259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719072" y="540410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231136" y="431673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719072" y="423824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231136" y="315087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719072" y="307238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60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2231136" y="198501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719072" y="190652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80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231136" y="81915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719072" y="74066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147" name="TextBox 146"/>
          <p:cNvSpPr txBox="1"/>
          <p:nvPr/>
        </p:nvSpPr>
        <p:spPr>
          <a:xfrm rot="16200000">
            <a:off x="1371600" y="3017520"/>
            <a:ext cx="7315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000000"/>
                </a:solidFill>
                <a:latin typeface="Arial"/>
              </a:rPr>
              <a:t>GC3 (%)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3611880" y="1047749"/>
            <a:ext cx="2651759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3608070" y="1051560"/>
            <a:ext cx="7620" cy="914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6259830" y="1051560"/>
            <a:ext cx="7620" cy="914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4023360" y="813815"/>
            <a:ext cx="18288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MWU p = 0.043 *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035040"/>
            <a:ext cx="9509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Supp Fig S17b — Effective Number of Codons (ENC): MICP-complete 50.0 vs rest 39.0 (MWU p = 2.8e-3).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S17b</a:t>
            </a:r>
          </a:p>
        </p:txBody>
      </p:sp>
      <p:sp>
        <p:nvSpPr>
          <p:cNvPr id="4" name="Rectangle 3"/>
          <p:cNvSpPr/>
          <p:nvPr/>
        </p:nvSpPr>
        <p:spPr>
          <a:xfrm>
            <a:off x="3081528" y="1950685"/>
            <a:ext cx="1060704" cy="1510981"/>
          </a:xfrm>
          <a:prstGeom prst="rect">
            <a:avLst/>
          </a:prstGeom>
          <a:solidFill>
            <a:srgbClr val="CC79A7"/>
          </a:solidFill>
          <a:ln w="76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81528" y="1948547"/>
            <a:ext cx="1060704" cy="1397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08705" y="3461667"/>
            <a:ext cx="6350" cy="74118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08705" y="1912217"/>
            <a:ext cx="6350" cy="384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75304" y="4199679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75304" y="1909042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03765" y="1926059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830257" y="4177251"/>
            <a:ext cx="51206" cy="51206"/>
          </a:xfrm>
          <a:prstGeom prst="ellipse">
            <a:avLst/>
          </a:prstGeom>
          <a:solidFill>
            <a:srgbClr val="D55E00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952613" y="1925082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18917" y="1886614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97972" y="1933798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48739" y="3436063"/>
            <a:ext cx="51206" cy="51206"/>
          </a:xfrm>
          <a:prstGeom prst="ellipse">
            <a:avLst/>
          </a:prstGeom>
          <a:solidFill>
            <a:srgbClr val="D55E00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360" y="5559552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MICP-complete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5760720"/>
            <a:ext cx="14630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6B6B6B"/>
                </a:solidFill>
                <a:latin typeface="Arial"/>
              </a:rPr>
              <a:t>n =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33288" y="3084989"/>
            <a:ext cx="1060704" cy="1333626"/>
          </a:xfrm>
          <a:prstGeom prst="rect">
            <a:avLst/>
          </a:prstGeom>
          <a:solidFill>
            <a:srgbClr val="6B6B6B"/>
          </a:solidFill>
          <a:ln w="76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33288" y="4075072"/>
            <a:ext cx="1060704" cy="1397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0465" y="4418615"/>
            <a:ext cx="6350" cy="47787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0465" y="1941735"/>
            <a:ext cx="6350" cy="114325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27064" y="4893317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7064" y="1938560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84474" y="417744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6459" y="300992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106424" y="464205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997739" y="285498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29695" y="191613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233291" y="417750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221945" y="306274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04888" y="299350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050714" y="376235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042178" y="324608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390682" y="394350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098372" y="366718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377111" y="411006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66491" y="439816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529156" y="386450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591273" y="367884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026870" y="415337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029128" y="273748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24847" y="418694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298133" y="444821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000865" y="420025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79326" y="402097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534967" y="458248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505164" y="454825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012183" y="304300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078095" y="304525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845573" y="415756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616453" y="266130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015639" y="448274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418704" y="457388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268185" y="431580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312388" y="452085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259305" y="318570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497004" y="284405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317534" y="402282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081468" y="401603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931623" y="415753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220061" y="452466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574508" y="474245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955785" y="420315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84361" y="483099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342340" y="404088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967765" y="395924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004818" y="351459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386200" y="454730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187908" y="422081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164060" y="443452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222397" y="294460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920797" y="308143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400801" y="44943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6308345" y="415721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6265253" y="384549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6110461" y="271966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6485912" y="305602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495760" y="280363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6273726" y="405645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910824" y="276846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957940" y="393851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5961343" y="415460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5902994" y="413957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356020" y="399213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272628" y="454968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002454" y="445564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564487" y="449710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6341285" y="458476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6470461" y="416670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491049" y="298360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382447" y="427940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259338" y="414362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623656" y="298314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5945997" y="294876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388609" y="438785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6543710" y="431273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220845" y="402062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6490373" y="418398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5984548" y="426848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171401" y="291494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055767" y="394202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156059" y="285910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6398634" y="304367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5954454" y="411617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6109532" y="313559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6513341" y="409696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6080054" y="370151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5940554" y="399393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631313" y="197642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6270785" y="461325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5854693" y="285877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6294754" y="426659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956445" y="423914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969780" y="456194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427980" y="284482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6359105" y="362911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179477" y="289001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6249507" y="283445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6284702" y="449625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6205360" y="462075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920785" y="455308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6451769" y="451148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6453102" y="387460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6175983" y="434682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6161598" y="487088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6325902" y="446077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6215749" y="285583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6170674" y="349531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532120" y="5559552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Rest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532120" y="5760720"/>
            <a:ext cx="14630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6B6B6B"/>
                </a:solidFill>
                <a:latin typeface="Arial"/>
              </a:rPr>
              <a:t>n = 105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286000" y="5481637"/>
            <a:ext cx="53035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2281237" y="822960"/>
            <a:ext cx="9525" cy="46634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3608070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3063240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MICP-complete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259830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5715000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Rest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2231136" y="548259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719072" y="540410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231136" y="431673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719072" y="423824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35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231136" y="315087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719072" y="307238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45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2231136" y="198501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719072" y="190652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55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231136" y="81915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719072" y="74066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65</a:t>
            </a:r>
          </a:p>
        </p:txBody>
      </p:sp>
      <p:sp>
        <p:nvSpPr>
          <p:cNvPr id="147" name="TextBox 146"/>
          <p:cNvSpPr txBox="1"/>
          <p:nvPr/>
        </p:nvSpPr>
        <p:spPr>
          <a:xfrm rot="16200000">
            <a:off x="1371600" y="3017520"/>
            <a:ext cx="7315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000000"/>
                </a:solidFill>
                <a:latin typeface="Arial"/>
              </a:rPr>
              <a:t>ENC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3611880" y="1047749"/>
            <a:ext cx="2651759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3608070" y="1051560"/>
            <a:ext cx="7620" cy="914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6259830" y="1051560"/>
            <a:ext cx="7620" cy="914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4023360" y="813815"/>
            <a:ext cx="18288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MWU p = 2.8e-3 **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035040"/>
            <a:ext cx="9509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Supp Fig S17c — PAML codeml M0 omega across 18-MAG subset (FastTree bifurcating topology).  All &lt; 0.1.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S17c</a:t>
            </a:r>
          </a:p>
        </p:txBody>
      </p:sp>
      <p:sp>
        <p:nvSpPr>
          <p:cNvPr id="4" name="Rectangle 3"/>
          <p:cNvSpPr/>
          <p:nvPr/>
        </p:nvSpPr>
        <p:spPr>
          <a:xfrm>
            <a:off x="1947672" y="2102297"/>
            <a:ext cx="905255" cy="3384102"/>
          </a:xfrm>
          <a:prstGeom prst="rect">
            <a:avLst/>
          </a:prstGeom>
          <a:solidFill>
            <a:srgbClr val="0072B2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64792" y="1873697"/>
            <a:ext cx="127101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0.087</a:t>
            </a:r>
          </a:p>
        </p:txBody>
      </p:sp>
      <p:sp>
        <p:nvSpPr>
          <p:cNvPr id="6" name="Rectangle 5"/>
          <p:cNvSpPr/>
          <p:nvPr/>
        </p:nvSpPr>
        <p:spPr>
          <a:xfrm>
            <a:off x="3456431" y="3177219"/>
            <a:ext cx="905255" cy="2309180"/>
          </a:xfrm>
          <a:prstGeom prst="rect">
            <a:avLst/>
          </a:prstGeom>
          <a:solidFill>
            <a:srgbClr val="0072B2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73551" y="2948619"/>
            <a:ext cx="127101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0.059</a:t>
            </a:r>
          </a:p>
        </p:txBody>
      </p:sp>
      <p:sp>
        <p:nvSpPr>
          <p:cNvPr id="8" name="Rectangle 7"/>
          <p:cNvSpPr/>
          <p:nvPr/>
        </p:nvSpPr>
        <p:spPr>
          <a:xfrm>
            <a:off x="4965192" y="4474044"/>
            <a:ext cx="905255" cy="1012355"/>
          </a:xfrm>
          <a:prstGeom prst="rect">
            <a:avLst/>
          </a:prstGeom>
          <a:solidFill>
            <a:srgbClr val="0072B2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82312" y="4245444"/>
            <a:ext cx="127101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73951" y="3900053"/>
            <a:ext cx="905255" cy="1586346"/>
          </a:xfrm>
          <a:prstGeom prst="rect">
            <a:avLst/>
          </a:prstGeom>
          <a:solidFill>
            <a:srgbClr val="0072B2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1" y="3671453"/>
            <a:ext cx="127101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0.041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0" y="5481637"/>
            <a:ext cx="603504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41157" y="822960"/>
            <a:ext cx="9525" cy="46634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96490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51660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ureA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05249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60419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ureB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14010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9180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ureC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22770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ureG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91056" y="548259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540410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91056" y="470535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462686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91056" y="392811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384962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91056" y="315087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992" y="307238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91056" y="2373629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" y="229514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91056" y="159639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8992" y="151790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91056" y="81915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8992" y="74066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5897880"/>
            <a:ext cx="64008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Urease subunit</a:t>
            </a:r>
          </a:p>
        </p:txBody>
      </p:sp>
      <p:sp>
        <p:nvSpPr>
          <p:cNvPr id="37" name="TextBox 36"/>
          <p:cNvSpPr txBox="1"/>
          <p:nvPr/>
        </p:nvSpPr>
        <p:spPr>
          <a:xfrm rot="16200000">
            <a:off x="731520" y="3017520"/>
            <a:ext cx="7315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000000"/>
                </a:solidFill>
                <a:latin typeface="Arial"/>
              </a:rPr>
              <a:t>Whole-tree ω (codeml M0)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45920" y="1595120"/>
            <a:ext cx="6035040" cy="10160"/>
          </a:xfrm>
          <a:prstGeom prst="rect">
            <a:avLst/>
          </a:prstGeom>
          <a:noFill/>
          <a:ln w="10160">
            <a:solidFill>
              <a:srgbClr val="6B6B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20640" y="1362456"/>
            <a:ext cx="25603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0">
                <a:solidFill>
                  <a:srgbClr val="6B6B6B"/>
                </a:solidFill>
                <a:latin typeface="Arial"/>
              </a:rPr>
              <a:t>ω = 0.1 (strong purifying)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035040"/>
            <a:ext cx="9509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Supp Fig S17d — yn00 pairwise ω median: ureG hero-hero 0.31 vs rest-rest 0.074 (MWU p = 7.7e-8).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S17d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3070" y="1600200"/>
            <a:ext cx="373379" cy="3886200"/>
          </a:xfrm>
          <a:prstGeom prst="rect">
            <a:avLst/>
          </a:prstGeom>
          <a:solidFill>
            <a:srgbClr val="CC79A7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11630" y="1399032"/>
            <a:ext cx="5562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0.77</a:t>
            </a:r>
          </a:p>
        </p:txBody>
      </p:sp>
      <p:sp>
        <p:nvSpPr>
          <p:cNvPr id="6" name="Rectangle 5"/>
          <p:cNvSpPr/>
          <p:nvPr/>
        </p:nvSpPr>
        <p:spPr>
          <a:xfrm>
            <a:off x="2076450" y="1849344"/>
            <a:ext cx="373379" cy="3637055"/>
          </a:xfrm>
          <a:prstGeom prst="rect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85010" y="1648176"/>
            <a:ext cx="5562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0.72</a:t>
            </a:r>
          </a:p>
        </p:txBody>
      </p:sp>
      <p:sp>
        <p:nvSpPr>
          <p:cNvPr id="8" name="Rectangle 7"/>
          <p:cNvSpPr/>
          <p:nvPr/>
        </p:nvSpPr>
        <p:spPr>
          <a:xfrm>
            <a:off x="2449830" y="1953767"/>
            <a:ext cx="373379" cy="3532632"/>
          </a:xfrm>
          <a:prstGeom prst="rect">
            <a:avLst/>
          </a:prstGeom>
          <a:solidFill>
            <a:srgbClr val="F0E442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8390" y="1752599"/>
            <a:ext cx="5562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0.70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03270" y="4815509"/>
            <a:ext cx="373379" cy="670890"/>
          </a:xfrm>
          <a:prstGeom prst="rect">
            <a:avLst/>
          </a:prstGeom>
          <a:solidFill>
            <a:srgbClr val="CC79A7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11829" y="4614341"/>
            <a:ext cx="5562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0.13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6649" y="5048432"/>
            <a:ext cx="373379" cy="437967"/>
          </a:xfrm>
          <a:prstGeom prst="rect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5209" y="4847264"/>
            <a:ext cx="5562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0.09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50029" y="4745809"/>
            <a:ext cx="373379" cy="740590"/>
          </a:xfrm>
          <a:prstGeom prst="rect">
            <a:avLst/>
          </a:prstGeom>
          <a:solidFill>
            <a:srgbClr val="F0E442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58590" y="4544641"/>
            <a:ext cx="5562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0.15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03470" y="4793205"/>
            <a:ext cx="373379" cy="693194"/>
          </a:xfrm>
          <a:prstGeom prst="rect">
            <a:avLst/>
          </a:prstGeom>
          <a:solidFill>
            <a:srgbClr val="CC79A7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12030" y="4592037"/>
            <a:ext cx="5562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0.14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76850" y="4872536"/>
            <a:ext cx="373379" cy="613863"/>
          </a:xfrm>
          <a:prstGeom prst="rect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85410" y="4671368"/>
            <a:ext cx="5562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0.12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50230" y="4748850"/>
            <a:ext cx="373379" cy="737549"/>
          </a:xfrm>
          <a:prstGeom prst="rect">
            <a:avLst/>
          </a:prstGeom>
          <a:solidFill>
            <a:srgbClr val="F0E442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58790" y="4547682"/>
            <a:ext cx="5562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0.15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03670" y="3903837"/>
            <a:ext cx="373379" cy="1582562"/>
          </a:xfrm>
          <a:prstGeom prst="rect">
            <a:avLst/>
          </a:prstGeom>
          <a:solidFill>
            <a:srgbClr val="CC79A7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2230" y="3702669"/>
            <a:ext cx="5562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0.31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77050" y="5110782"/>
            <a:ext cx="373379" cy="375617"/>
          </a:xfrm>
          <a:prstGeom prst="rect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85610" y="4909614"/>
            <a:ext cx="5562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0.07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50430" y="4495144"/>
            <a:ext cx="373379" cy="991255"/>
          </a:xfrm>
          <a:prstGeom prst="rect">
            <a:avLst/>
          </a:prstGeom>
          <a:solidFill>
            <a:srgbClr val="F0E442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58990" y="4293976"/>
            <a:ext cx="5562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0.20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63040" y="5481637"/>
            <a:ext cx="640080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58277" y="822960"/>
            <a:ext cx="9525" cy="46634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259330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14500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ureA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59530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14699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ureB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59730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14900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ureC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59930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5100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ureG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08176" y="548259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112" y="540410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408176" y="4975683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4897197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408176" y="4468776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112" y="4390290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408176" y="3961869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3883383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408176" y="3454963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6112" y="3376477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48" name="TextBox 47"/>
          <p:cNvSpPr txBox="1"/>
          <p:nvPr/>
        </p:nvSpPr>
        <p:spPr>
          <a:xfrm rot="16200000">
            <a:off x="548640" y="3017520"/>
            <a:ext cx="7315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000000"/>
                </a:solidFill>
                <a:latin typeface="Arial"/>
              </a:rPr>
              <a:t>Pairwise ω median (yn00)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868680"/>
            <a:ext cx="164592" cy="128016"/>
          </a:xfrm>
          <a:prstGeom prst="rect">
            <a:avLst/>
          </a:prstGeom>
          <a:solidFill>
            <a:srgbClr val="CC79A7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36207" y="832104"/>
            <a:ext cx="160020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hero-hero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35040" y="1179576"/>
            <a:ext cx="164592" cy="128016"/>
          </a:xfrm>
          <a:prstGeom prst="rect">
            <a:avLst/>
          </a:prstGeom>
          <a:solidFill>
            <a:srgbClr val="6B6B6B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36207" y="1143000"/>
            <a:ext cx="160020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rest-rest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35040" y="1490472"/>
            <a:ext cx="164592" cy="128016"/>
          </a:xfrm>
          <a:prstGeom prst="rect">
            <a:avLst/>
          </a:prstGeom>
          <a:solidFill>
            <a:srgbClr val="F0E442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36207" y="1453896"/>
            <a:ext cx="160020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hero-rest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37759" y="960120"/>
            <a:ext cx="29260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900" b="1" i="0">
                <a:solidFill>
                  <a:srgbClr val="CC79A7"/>
                </a:solidFill>
                <a:latin typeface="Arial"/>
              </a:rPr>
              <a:t>ureG  hero-hero vs rest-rest:  MWU p = 7.7e-8 ***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035040"/>
            <a:ext cx="9509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Supp Fig S18 — Pan-MICP environment ANI: S26 &lt;-&gt; P. helleri DSM 29165 = 97.54% (closest reference).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S18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446145"/>
            <a:ext cx="822959" cy="1297054"/>
          </a:xfrm>
          <a:prstGeom prst="rect">
            <a:avLst/>
          </a:prstGeom>
          <a:solidFill>
            <a:srgbClr val="D55E00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31920" y="1217545"/>
            <a:ext cx="1188719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93.5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1627196"/>
            <a:ext cx="822959" cy="1116003"/>
          </a:xfrm>
          <a:prstGeom prst="rect">
            <a:avLst/>
          </a:prstGeom>
          <a:solidFill>
            <a:srgbClr val="D55E00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0" y="1398596"/>
            <a:ext cx="1188719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91.7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738437"/>
            <a:ext cx="274320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35717" y="731520"/>
            <a:ext cx="9525" cy="20116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2470" y="2743200"/>
            <a:ext cx="7620" cy="5486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 rot="1800000">
            <a:off x="3977640" y="2816352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C22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94070" y="2743200"/>
            <a:ext cx="7620" cy="5486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 rot="1800000">
            <a:off x="5349240" y="2816352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S23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85616" y="2739390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73552" y="266090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85616" y="1781447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73552" y="1702961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90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85616" y="1302475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73552" y="1223989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95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85616" y="823504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73552" y="745018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154680"/>
            <a:ext cx="31089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S16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0" y="1303110"/>
            <a:ext cx="2743200" cy="6350"/>
          </a:xfrm>
          <a:prstGeom prst="rect">
            <a:avLst/>
          </a:prstGeom>
          <a:noFill/>
          <a:ln w="635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32320" y="1135771"/>
            <a:ext cx="822959" cy="1607428"/>
          </a:xfrm>
          <a:prstGeom prst="rect">
            <a:avLst/>
          </a:prstGeom>
          <a:solidFill>
            <a:srgbClr val="009E73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907171"/>
            <a:ext cx="1188719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96.8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1627196"/>
            <a:ext cx="822959" cy="1116003"/>
          </a:xfrm>
          <a:prstGeom prst="rect">
            <a:avLst/>
          </a:prstGeom>
          <a:solidFill>
            <a:srgbClr val="D55E00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1398596"/>
            <a:ext cx="1188719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91.7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2738437"/>
            <a:ext cx="274320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3237" y="731520"/>
            <a:ext cx="9525" cy="20116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539990" y="2743200"/>
            <a:ext cx="7620" cy="5486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 rot="1800000">
            <a:off x="6995160" y="2816352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C22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11590" y="2743200"/>
            <a:ext cx="7620" cy="5486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 rot="1800000">
            <a:off x="8366760" y="2816352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S16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03136" y="2739390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1072" y="266090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03136" y="1781447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91072" y="1702961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90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03136" y="1302475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91072" y="1223989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95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03136" y="823504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91072" y="745018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3154680"/>
            <a:ext cx="31089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S23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0" y="1303110"/>
            <a:ext cx="2743200" cy="6350"/>
          </a:xfrm>
          <a:prstGeom prst="rect">
            <a:avLst/>
          </a:prstGeom>
          <a:noFill/>
          <a:ln w="635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97280" y="3787531"/>
            <a:ext cx="822959" cy="1607428"/>
          </a:xfrm>
          <a:prstGeom prst="rect">
            <a:avLst/>
          </a:prstGeom>
          <a:solidFill>
            <a:srgbClr val="009E73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3558931"/>
            <a:ext cx="1188719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96.8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468880" y="4097905"/>
            <a:ext cx="822959" cy="1297054"/>
          </a:xfrm>
          <a:prstGeom prst="rect">
            <a:avLst/>
          </a:prstGeom>
          <a:solidFill>
            <a:srgbClr val="D55E00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86000" y="3869305"/>
            <a:ext cx="1188719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93.5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" y="5390197"/>
            <a:ext cx="274320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8197" y="3383280"/>
            <a:ext cx="9525" cy="20116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04950" y="539496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 rot="1800000">
            <a:off x="960119" y="5468112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S23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76549" y="539496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 rot="1800000">
            <a:off x="2331720" y="5468112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S16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8096" y="5391150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56032" y="531266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68096" y="4433207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6032" y="4354721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90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68096" y="3954235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6032" y="3875749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95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8096" y="3475264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56032" y="3396778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5806440"/>
            <a:ext cx="31089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C22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2960" y="3954870"/>
            <a:ext cx="2743200" cy="6350"/>
          </a:xfrm>
          <a:prstGeom prst="rect">
            <a:avLst/>
          </a:prstGeom>
          <a:noFill/>
          <a:ln w="635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406640" y="3714728"/>
            <a:ext cx="1645919" cy="1680231"/>
          </a:xfrm>
          <a:prstGeom prst="rect">
            <a:avLst/>
          </a:prstGeom>
          <a:solidFill>
            <a:srgbClr val="009E73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23759" y="3486128"/>
            <a:ext cx="2011679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97.5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858000" y="5390197"/>
            <a:ext cx="274320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853237" y="3383280"/>
            <a:ext cx="9525" cy="20116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225790" y="539496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 rot="1800000">
            <a:off x="7680960" y="5468112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Pseudomonas_helleri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803136" y="5391150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91072" y="531266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803136" y="4433207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91072" y="4354721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90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803136" y="3954235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91072" y="3875749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95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803136" y="3475264"/>
            <a:ext cx="54863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91072" y="3396778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75120" y="5806440"/>
            <a:ext cx="31089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S26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858000" y="3954870"/>
            <a:ext cx="2743200" cy="6350"/>
          </a:xfrm>
          <a:prstGeom prst="rect">
            <a:avLst/>
          </a:prstGeom>
          <a:noFill/>
          <a:ln w="635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035040"/>
            <a:ext cx="9509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Supp Fig S19 — SPAdes length-weighted coverage proxy.  MICP-complete 26.8x vs rest 25.5x (p = 0.27, n.s.).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S19</a:t>
            </a:r>
          </a:p>
        </p:txBody>
      </p:sp>
      <p:sp>
        <p:nvSpPr>
          <p:cNvPr id="4" name="Rectangle 3"/>
          <p:cNvSpPr/>
          <p:nvPr/>
        </p:nvSpPr>
        <p:spPr>
          <a:xfrm>
            <a:off x="2761488" y="5273024"/>
            <a:ext cx="1243584" cy="153236"/>
          </a:xfrm>
          <a:prstGeom prst="rect">
            <a:avLst/>
          </a:prstGeom>
          <a:solidFill>
            <a:srgbClr val="CC79A7"/>
          </a:solidFill>
          <a:ln w="76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61488" y="5384559"/>
            <a:ext cx="1243584" cy="1397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80105" y="5426261"/>
            <a:ext cx="6350" cy="2249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46704" y="5445578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46704" y="5269849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378180" y="5423150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43723" y="3314169"/>
            <a:ext cx="51206" cy="51206"/>
          </a:xfrm>
          <a:prstGeom prst="ellipse">
            <a:avLst/>
          </a:prstGeom>
          <a:solidFill>
            <a:srgbClr val="D55E00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787174" y="5400657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61462" y="5247420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05872" y="5379773"/>
            <a:ext cx="51206" cy="51206"/>
          </a:xfrm>
          <a:prstGeom prst="ellipse">
            <a:avLst/>
          </a:prstGeom>
          <a:solidFill>
            <a:srgbClr val="0072B2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48150" y="5352108"/>
            <a:ext cx="51206" cy="51206"/>
          </a:xfrm>
          <a:prstGeom prst="ellipse">
            <a:avLst/>
          </a:prstGeom>
          <a:solidFill>
            <a:srgbClr val="D55E00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5559552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MICP-complete (n=6)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0448" y="5085640"/>
            <a:ext cx="1243584" cy="312850"/>
          </a:xfrm>
          <a:prstGeom prst="rect">
            <a:avLst/>
          </a:prstGeom>
          <a:solidFill>
            <a:srgbClr val="6B6B6B"/>
          </a:solidFill>
          <a:ln w="76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70448" y="5330221"/>
            <a:ext cx="1243584" cy="1397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89065" y="5398490"/>
            <a:ext cx="6350" cy="4811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89065" y="4638266"/>
            <a:ext cx="6350" cy="44737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55664" y="5443433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55664" y="4635091"/>
            <a:ext cx="73152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169356" y="523246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17201" y="532788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12332" y="534254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184908" y="542100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56857" y="539296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61073" y="533256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47770" y="522454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27772" y="540922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247017" y="540174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37009" y="536067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45601" y="538975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02892" y="540068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629689" y="539833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734480" y="540109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807949" y="537777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880776" y="537793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219062" y="535155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221709" y="537152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85655" y="524565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37095" y="541305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188574" y="541795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632286" y="541653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814762" y="516045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779820" y="482442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201843" y="244871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279119" y="516490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006507" y="536798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910297" y="539019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205895" y="407718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678454" y="491210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501983" y="492069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553808" y="429427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491572" y="540796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770253" y="235308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559840" y="465332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283073" y="526135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107393" y="531487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45562" y="539883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861120" y="534578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135721" y="519788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638189" y="534136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588923" y="534815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149766" y="521098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193207" y="519288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640346" y="351011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407865" y="516123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379905" y="433233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448300" y="501080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094701" y="538746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657464" y="493333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549067" y="517659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498546" y="524037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6317066" y="532277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6757249" y="532809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6768795" y="538589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6508479" y="518419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083008" y="443240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6138248" y="534805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6142237" y="529126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073828" y="538383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604962" y="526466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507192" y="492338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190436" y="441438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849371" y="122130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587686" y="461266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739134" y="531472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6763271" y="397856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6635946" y="537813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491611" y="538665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918742" y="511931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124245" y="535762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643170" y="538494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825012" y="536836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446481" y="539111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6762480" y="533857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169443" y="491168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6388512" y="509861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6252942" y="529793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370525" y="538467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654923" y="440778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134161" y="537180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6315976" y="537168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6789408" y="536270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6281416" y="525674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6117864" y="5311602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6927719" y="540991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6505031" y="505029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017199" y="513468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6533133" y="537397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6136495" y="533220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6152129" y="4328743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6689329" y="532292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6608578" y="373549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397980" y="5069779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6480084" y="500108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521348" y="4803164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6428327" y="516325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6094687" y="5299270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6717220" y="534795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6718782" y="3025827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6393884" y="5241901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6377019" y="525323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6569651" y="5300778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6440507" y="5343165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6387659" y="5357246"/>
            <a:ext cx="51206" cy="51206"/>
          </a:xfrm>
          <a:prstGeom prst="ellipse">
            <a:avLst/>
          </a:prstGeom>
          <a:solidFill>
            <a:srgbClr val="6B6B6B"/>
          </a:solidFill>
          <a:ln w="25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760720" y="5559552"/>
            <a:ext cx="1463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Rest (n=105)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0" y="5481637"/>
            <a:ext cx="62179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824037" y="822960"/>
            <a:ext cx="9525" cy="46634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3379470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2834640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MICP-complete (n=6)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488430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943600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Rest (n=105)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773936" y="548259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261872" y="540410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773936" y="5152758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261872" y="5074272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773936" y="4822927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261872" y="4744441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773936" y="4493096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261872" y="4414610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60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773936" y="4163265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261872" y="4084779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80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1773936" y="3833434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261872" y="3754948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773936" y="3008856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261872" y="2930370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150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773936" y="2184278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261872" y="2105792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150" name="TextBox 149"/>
          <p:cNvSpPr txBox="1"/>
          <p:nvPr/>
        </p:nvSpPr>
        <p:spPr>
          <a:xfrm rot="16200000">
            <a:off x="914400" y="3017520"/>
            <a:ext cx="7315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000000"/>
                </a:solidFill>
                <a:latin typeface="Arial"/>
              </a:rPr>
              <a:t>Length-weighted contig coverage (×)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3383280" y="1047749"/>
            <a:ext cx="3108959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3379470" y="1051560"/>
            <a:ext cx="7620" cy="914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488430" y="1051560"/>
            <a:ext cx="7620" cy="914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4023360" y="813815"/>
            <a:ext cx="18288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MWU p = 0.27 (n.s.)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035040"/>
            <a:ext cx="9509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Supp Fig S20 — ESMFold UreC TM/RMSD vs 4CEU (extended of Fig 8b).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S20</a:t>
            </a:r>
          </a:p>
        </p:txBody>
      </p:sp>
      <p:sp>
        <p:nvSpPr>
          <p:cNvPr id="4" name="Rectangle 3"/>
          <p:cNvSpPr/>
          <p:nvPr/>
        </p:nvSpPr>
        <p:spPr>
          <a:xfrm>
            <a:off x="1658112" y="2083850"/>
            <a:ext cx="320040" cy="3402549"/>
          </a:xfrm>
          <a:prstGeom prst="rect">
            <a:avLst/>
          </a:prstGeom>
          <a:solidFill>
            <a:srgbClr val="0072B2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66672" y="1882682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0.620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4728" y="2247532"/>
            <a:ext cx="320040" cy="3238867"/>
          </a:xfrm>
          <a:prstGeom prst="rect">
            <a:avLst/>
          </a:prstGeom>
          <a:solidFill>
            <a:srgbClr val="CBD5E0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3288" y="2046364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4.17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24912" y="2122732"/>
            <a:ext cx="320040" cy="3363667"/>
          </a:xfrm>
          <a:prstGeom prst="rect">
            <a:avLst/>
          </a:prstGeom>
          <a:solidFill>
            <a:srgbClr val="0072B2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33472" y="1921564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0.613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81528" y="2136633"/>
            <a:ext cx="320040" cy="3349766"/>
          </a:xfrm>
          <a:prstGeom prst="rect">
            <a:avLst/>
          </a:prstGeom>
          <a:solidFill>
            <a:srgbClr val="CBD5E0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8" y="1935465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4.31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91712" y="2127636"/>
            <a:ext cx="320040" cy="3358763"/>
          </a:xfrm>
          <a:prstGeom prst="rect">
            <a:avLst/>
          </a:prstGeom>
          <a:solidFill>
            <a:srgbClr val="0072B2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0272" y="1926468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0.612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48328" y="2109693"/>
            <a:ext cx="320040" cy="3376706"/>
          </a:xfrm>
          <a:prstGeom prst="rect">
            <a:avLst/>
          </a:prstGeom>
          <a:solidFill>
            <a:srgbClr val="CBD5E0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56888" y="1908525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4.34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58512" y="1767424"/>
            <a:ext cx="320040" cy="3718975"/>
          </a:xfrm>
          <a:prstGeom prst="rect">
            <a:avLst/>
          </a:prstGeom>
          <a:solidFill>
            <a:srgbClr val="0072B2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67072" y="1566256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0.678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5128" y="2750878"/>
            <a:ext cx="320040" cy="2735521"/>
          </a:xfrm>
          <a:prstGeom prst="rect">
            <a:avLst/>
          </a:prstGeom>
          <a:solidFill>
            <a:srgbClr val="CBD5E0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3688" y="2549710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3.52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25312" y="2209079"/>
            <a:ext cx="320040" cy="3277320"/>
          </a:xfrm>
          <a:prstGeom prst="rect">
            <a:avLst/>
          </a:prstGeom>
          <a:solidFill>
            <a:srgbClr val="D55E00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33872" y="2007911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0.597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81927" y="2236912"/>
            <a:ext cx="320040" cy="3249487"/>
          </a:xfrm>
          <a:prstGeom prst="rect">
            <a:avLst/>
          </a:prstGeom>
          <a:solidFill>
            <a:srgbClr val="CBD5E0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0488" y="2035744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4.18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92112" y="2198066"/>
            <a:ext cx="320040" cy="3288333"/>
          </a:xfrm>
          <a:prstGeom prst="rect">
            <a:avLst/>
          </a:prstGeom>
          <a:solidFill>
            <a:srgbClr val="D55E00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00672" y="1996898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0.599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48728" y="2346732"/>
            <a:ext cx="320040" cy="3139667"/>
          </a:xfrm>
          <a:prstGeom prst="rect">
            <a:avLst/>
          </a:prstGeom>
          <a:solidFill>
            <a:srgbClr val="CBD5E0"/>
          </a:solidFill>
          <a:ln w="50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57288" y="2145564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4.04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63040" y="5481637"/>
            <a:ext cx="640080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58277" y="822960"/>
            <a:ext cx="9525" cy="46634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992630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47800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S13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59430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14600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S16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26230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81400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S23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93030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48200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C22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59830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15000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M1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26629" y="548640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81799" y="555955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S26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408176" y="548259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112" y="540410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408176" y="438531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430682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408176" y="328803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6112" y="320954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408176" y="273939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6112" y="266090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408176" y="2190749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6112" y="211226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408176" y="109347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6112" y="1014984"/>
            <a:ext cx="493776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54" name="TextBox 53"/>
          <p:cNvSpPr txBox="1"/>
          <p:nvPr/>
        </p:nvSpPr>
        <p:spPr>
          <a:xfrm rot="16200000">
            <a:off x="548640" y="3017520"/>
            <a:ext cx="7315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1000" b="1" i="0">
                <a:solidFill>
                  <a:srgbClr val="000000"/>
                </a:solidFill>
                <a:latin typeface="Arial"/>
              </a:rPr>
              <a:t>Backbone TM-score (norm. 4CEU)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59077" y="822960"/>
            <a:ext cx="9525" cy="46634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63840" y="548259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936992" y="5394960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863840" y="470535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936992" y="4617720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863840" y="392811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936992" y="3840480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863840" y="315087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936992" y="3063240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63840" y="237363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936992" y="2286000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863840" y="159639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936992" y="1508760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863840" y="819150"/>
            <a:ext cx="54864" cy="76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936992" y="731520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 rot="16200000">
            <a:off x="8412480" y="3017520"/>
            <a:ext cx="6400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000000"/>
                </a:solidFill>
                <a:latin typeface="Arial"/>
              </a:rPr>
              <a:t>Backbone RMSD (Å)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463040" y="2737485"/>
            <a:ext cx="6400800" cy="11430"/>
          </a:xfrm>
          <a:prstGeom prst="rect">
            <a:avLst/>
          </a:prstGeom>
          <a:noFill/>
          <a:ln w="1143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508760" y="2542032"/>
            <a:ext cx="32004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Same-fold threshold (TM = 0.5)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554480" y="457200"/>
            <a:ext cx="164592" cy="128016"/>
          </a:xfrm>
          <a:prstGeom prst="rect">
            <a:avLst/>
          </a:prstGeom>
          <a:solidFill>
            <a:srgbClr val="0072B2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755648" y="438912"/>
            <a:ext cx="23774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TM-score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023360" y="457200"/>
            <a:ext cx="164592" cy="128016"/>
          </a:xfrm>
          <a:prstGeom prst="rect">
            <a:avLst/>
          </a:prstGeom>
          <a:solidFill>
            <a:srgbClr val="CBD5E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24528" y="438912"/>
            <a:ext cx="18288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Backbone RMSD (Å)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035040"/>
            <a:ext cx="9509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6B6B6B"/>
                </a:solidFill>
                <a:latin typeface="Arial"/>
              </a:rPr>
              <a:t>Supp Fig S21 — antiSMASH 7 class enrichment (extended of Fig 8d).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S21</a:t>
            </a:r>
          </a:p>
        </p:txBody>
      </p:sp>
      <p:sp>
        <p:nvSpPr>
          <p:cNvPr id="4" name="Rectangle 3"/>
          <p:cNvSpPr/>
          <p:nvPr/>
        </p:nvSpPr>
        <p:spPr>
          <a:xfrm>
            <a:off x="2194560" y="701802"/>
            <a:ext cx="914" cy="176022"/>
          </a:xfrm>
          <a:prstGeom prst="rect">
            <a:avLst/>
          </a:prstGeom>
          <a:solidFill>
            <a:srgbClr val="CC79A7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94560" y="905256"/>
            <a:ext cx="1851193" cy="176022"/>
          </a:xfrm>
          <a:prstGeom prst="rect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781812"/>
            <a:ext cx="14173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NRP-metallophore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204722"/>
            <a:ext cx="674914" cy="176022"/>
          </a:xfrm>
          <a:prstGeom prst="rect">
            <a:avLst/>
          </a:prstGeom>
          <a:solidFill>
            <a:srgbClr val="CC79A7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0" y="1408175"/>
            <a:ext cx="1234128" cy="176022"/>
          </a:xfrm>
          <a:prstGeom prst="rect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1284731"/>
            <a:ext cx="14173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hydrogen-cyanide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1707642"/>
            <a:ext cx="1349828" cy="176022"/>
          </a:xfrm>
          <a:prstGeom prst="rect">
            <a:avLst/>
          </a:prstGeom>
          <a:solidFill>
            <a:srgbClr val="CC79A7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94560" y="1911096"/>
            <a:ext cx="3316721" cy="176022"/>
          </a:xfrm>
          <a:prstGeom prst="rect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19" y="1787652"/>
            <a:ext cx="14173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NRPS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2210562"/>
            <a:ext cx="1349828" cy="176022"/>
          </a:xfrm>
          <a:prstGeom prst="rect">
            <a:avLst/>
          </a:prstGeom>
          <a:solidFill>
            <a:srgbClr val="CC79A7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94560" y="2414016"/>
            <a:ext cx="578497" cy="176022"/>
          </a:xfrm>
          <a:prstGeom prst="rect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4173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NAGGN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4560" y="2713482"/>
            <a:ext cx="2024742" cy="176022"/>
          </a:xfrm>
          <a:prstGeom prst="rect">
            <a:avLst/>
          </a:prstGeom>
          <a:solidFill>
            <a:srgbClr val="CC79A7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94560" y="2916936"/>
            <a:ext cx="2352558" cy="176022"/>
          </a:xfrm>
          <a:prstGeom prst="rect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19" y="2793491"/>
            <a:ext cx="14173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terpene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0" y="3216402"/>
            <a:ext cx="2699657" cy="176022"/>
          </a:xfrm>
          <a:prstGeom prst="rect">
            <a:avLst/>
          </a:prstGeom>
          <a:solidFill>
            <a:srgbClr val="CC79A7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94560" y="3419856"/>
            <a:ext cx="3779519" cy="176022"/>
          </a:xfrm>
          <a:prstGeom prst="rect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19" y="3296412"/>
            <a:ext cx="14173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RiPP-like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94560" y="3719322"/>
            <a:ext cx="2699657" cy="176022"/>
          </a:xfrm>
          <a:prstGeom prst="rect">
            <a:avLst/>
          </a:prstGeom>
          <a:solidFill>
            <a:srgbClr val="CC79A7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94560" y="3922776"/>
            <a:ext cx="115699" cy="176022"/>
          </a:xfrm>
          <a:prstGeom prst="rect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9937" y="3799332"/>
            <a:ext cx="18288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1" i="0">
                <a:solidFill>
                  <a:srgbClr val="CC79A7"/>
                </a:solidFill>
                <a:latin typeface="Arial"/>
              </a:rPr>
              <a:t>***  p = 5.3e-10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19" y="3799332"/>
            <a:ext cx="14173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900" b="1" i="0">
                <a:solidFill>
                  <a:srgbClr val="CC79A7"/>
                </a:solidFill>
                <a:latin typeface="Arial"/>
              </a:rPr>
              <a:t>T3PKS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94560" y="4222242"/>
            <a:ext cx="3374571" cy="176022"/>
          </a:xfrm>
          <a:prstGeom prst="rect">
            <a:avLst/>
          </a:prstGeom>
          <a:solidFill>
            <a:srgbClr val="CC79A7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194560" y="4425696"/>
            <a:ext cx="424231" cy="176022"/>
          </a:xfrm>
          <a:prstGeom prst="rect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14851" y="4302252"/>
            <a:ext cx="18288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800" b="1" i="0">
                <a:solidFill>
                  <a:srgbClr val="CC79A7"/>
                </a:solidFill>
                <a:latin typeface="Arial"/>
              </a:rPr>
              <a:t>***  p = 1.9e-05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19" y="4302252"/>
            <a:ext cx="14173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900" b="1" i="0">
                <a:solidFill>
                  <a:srgbClr val="CC79A7"/>
                </a:solidFill>
                <a:latin typeface="Arial"/>
              </a:rPr>
              <a:t>RRE-containing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4725162"/>
            <a:ext cx="3374571" cy="176022"/>
          </a:xfrm>
          <a:prstGeom prst="rect">
            <a:avLst/>
          </a:prstGeom>
          <a:solidFill>
            <a:srgbClr val="CC79A7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194560" y="4928616"/>
            <a:ext cx="1851193" cy="176022"/>
          </a:xfrm>
          <a:prstGeom prst="rect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19" y="4805172"/>
            <a:ext cx="14173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betalactone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94560" y="5228082"/>
            <a:ext cx="3374571" cy="176022"/>
          </a:xfrm>
          <a:prstGeom prst="rect">
            <a:avLst/>
          </a:prstGeom>
          <a:solidFill>
            <a:srgbClr val="CC79A7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194560" y="5431536"/>
            <a:ext cx="3046755" cy="176022"/>
          </a:xfrm>
          <a:prstGeom prst="rect">
            <a:avLst/>
          </a:prstGeom>
          <a:solidFill>
            <a:srgbClr val="6B6B6B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19" y="5308092"/>
            <a:ext cx="14173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arylpolyene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94560" y="5664517"/>
            <a:ext cx="5669279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189797" y="640080"/>
            <a:ext cx="9525" cy="5029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190749" y="566928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45919" y="574243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00647" y="566928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55817" y="574243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10544" y="566928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65714" y="574243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20441" y="566928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75611" y="574243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30338" y="566928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85508" y="574243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40235" y="566928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95405" y="574243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0132" y="566928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05302" y="574243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1.2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60030" y="5669280"/>
            <a:ext cx="7620" cy="548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0" y="574243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1.4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11679" y="6080760"/>
            <a:ext cx="603504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ctr"/>
            <a:r>
              <a:rPr sz="1000" b="1" i="0">
                <a:solidFill>
                  <a:srgbClr val="000000"/>
                </a:solidFill>
                <a:latin typeface="Arial"/>
              </a:rPr>
              <a:t>BGC regions per MAG (mean)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69279" y="274319"/>
            <a:ext cx="164592" cy="128016"/>
          </a:xfrm>
          <a:prstGeom prst="rect">
            <a:avLst/>
          </a:prstGeom>
          <a:solidFill>
            <a:srgbClr val="CC79A7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70447" y="256031"/>
            <a:ext cx="10972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MICP-complete mean (n=6)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66559" y="274319"/>
            <a:ext cx="164592" cy="128016"/>
          </a:xfrm>
          <a:prstGeom prst="rect">
            <a:avLst/>
          </a:prstGeom>
          <a:solidFill>
            <a:srgbClr val="6B6B6B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67727" y="256031"/>
            <a:ext cx="9144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Rest mean (n=105)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